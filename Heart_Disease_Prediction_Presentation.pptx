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24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1B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61320" y="411480"/>
            <a:ext cx="1051560" cy="1051560"/>
          </a:xfrm>
          <a:prstGeom prst="ellipse">
            <a:avLst/>
          </a:prstGeom>
          <a:solidFill>
            <a:srgbClr val="115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173968" y="960120"/>
            <a:ext cx="658368" cy="658368"/>
          </a:xfrm>
          <a:prstGeom prst="ellipse">
            <a:avLst/>
          </a:prstGeom>
          <a:solidFill>
            <a:srgbClr val="126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12680" y="5623560"/>
            <a:ext cx="1508760" cy="1508760"/>
          </a:xfrm>
          <a:prstGeom prst="ellipse">
            <a:avLst/>
          </a:prstGeom>
          <a:solidFill>
            <a:srgbClr val="0D51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566928"/>
            <a:ext cx="3200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21B7C5"/>
                </a:solidFill>
                <a:latin typeface="Aptos Display"/>
              </a:rPr>
              <a:t>INTERNSHIP CAPSTONE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143000"/>
            <a:ext cx="6629400" cy="21488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ptos Display"/>
              </a:rPr>
              <a:t>Heart Disease
Prediction Using
Machine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3529584"/>
            <a:ext cx="50292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0" i="0">
                <a:solidFill>
                  <a:srgbClr val="C1DEE6"/>
                </a:solidFill>
                <a:latin typeface="Aptos"/>
              </a:rPr>
              <a:t>Machine Learning Classification Project</a:t>
            </a:r>
          </a:p>
        </p:txBody>
      </p:sp>
      <p:sp>
        <p:nvSpPr>
          <p:cNvPr id="9" name="Oval 8"/>
          <p:cNvSpPr/>
          <p:nvPr/>
        </p:nvSpPr>
        <p:spPr>
          <a:xfrm>
            <a:off x="7589519" y="1645920"/>
            <a:ext cx="3017520" cy="3017520"/>
          </a:xfrm>
          <a:prstGeom prst="ellipse">
            <a:avLst/>
          </a:prstGeom>
          <a:solidFill>
            <a:srgbClr val="0D51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19288" y="2075688"/>
            <a:ext cx="2157984" cy="2157984"/>
          </a:xfrm>
          <a:prstGeom prst="ellipse">
            <a:avLst/>
          </a:prstGeom>
          <a:solidFill>
            <a:srgbClr val="126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76488" y="2532888"/>
            <a:ext cx="1243584" cy="1243584"/>
          </a:xfrm>
          <a:prstGeom prst="ellipse">
            <a:avLst/>
          </a:prstGeom>
          <a:solidFill>
            <a:srgbClr val="21B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Heart 11"/>
          <p:cNvSpPr/>
          <p:nvPr/>
        </p:nvSpPr>
        <p:spPr>
          <a:xfrm>
            <a:off x="8522208" y="2560320"/>
            <a:ext cx="1152144" cy="1097280"/>
          </a:xfrm>
          <a:prstGeom prst="heart">
            <a:avLst/>
          </a:prstGeom>
          <a:solidFill>
            <a:srgbClr val="EF6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10881359" y="3154680"/>
            <a:ext cx="292608" cy="0"/>
          </a:xfrm>
          <a:prstGeom prst="line">
            <a:avLst/>
          </a:prstGeom>
          <a:ln w="25400">
            <a:solidFill>
              <a:srgbClr val="21B7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11100815" y="3081528"/>
            <a:ext cx="146304" cy="146304"/>
          </a:xfrm>
          <a:prstGeom prst="ellipse">
            <a:avLst/>
          </a:prstGeom>
          <a:solidFill>
            <a:srgbClr val="21B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10359107" y="4415507"/>
            <a:ext cx="206906" cy="206906"/>
          </a:xfrm>
          <a:prstGeom prst="line">
            <a:avLst/>
          </a:prstGeom>
          <a:ln w="25400">
            <a:solidFill>
              <a:srgbClr val="21B7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10492861" y="4549261"/>
            <a:ext cx="146304" cy="146304"/>
          </a:xfrm>
          <a:prstGeom prst="ellipse">
            <a:avLst/>
          </a:prstGeom>
          <a:solidFill>
            <a:srgbClr val="21B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9098280" y="4937760"/>
            <a:ext cx="0" cy="292608"/>
          </a:xfrm>
          <a:prstGeom prst="line">
            <a:avLst/>
          </a:prstGeom>
          <a:ln w="25400">
            <a:solidFill>
              <a:srgbClr val="21B7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9025128" y="5157216"/>
            <a:ext cx="146304" cy="146304"/>
          </a:xfrm>
          <a:prstGeom prst="ellipse">
            <a:avLst/>
          </a:prstGeom>
          <a:solidFill>
            <a:srgbClr val="21B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 flipH="1">
            <a:off x="7630546" y="4415507"/>
            <a:ext cx="206906" cy="206906"/>
          </a:xfrm>
          <a:prstGeom prst="line">
            <a:avLst/>
          </a:prstGeom>
          <a:ln w="25400">
            <a:solidFill>
              <a:srgbClr val="21B7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7557394" y="4549261"/>
            <a:ext cx="146304" cy="146304"/>
          </a:xfrm>
          <a:prstGeom prst="ellipse">
            <a:avLst/>
          </a:prstGeom>
          <a:solidFill>
            <a:srgbClr val="21B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 flipH="1">
            <a:off x="7022592" y="3154680"/>
            <a:ext cx="292607" cy="0"/>
          </a:xfrm>
          <a:prstGeom prst="line">
            <a:avLst/>
          </a:prstGeom>
          <a:ln w="25400">
            <a:solidFill>
              <a:srgbClr val="21B7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6949440" y="3081528"/>
            <a:ext cx="146304" cy="146304"/>
          </a:xfrm>
          <a:prstGeom prst="ellipse">
            <a:avLst/>
          </a:prstGeom>
          <a:solidFill>
            <a:srgbClr val="21B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 flipH="1" flipV="1">
            <a:off x="7630546" y="1686946"/>
            <a:ext cx="206906" cy="206906"/>
          </a:xfrm>
          <a:prstGeom prst="line">
            <a:avLst/>
          </a:prstGeom>
          <a:ln w="25400">
            <a:solidFill>
              <a:srgbClr val="21B7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7557394" y="1613794"/>
            <a:ext cx="146304" cy="146304"/>
          </a:xfrm>
          <a:prstGeom prst="ellipse">
            <a:avLst/>
          </a:prstGeom>
          <a:solidFill>
            <a:srgbClr val="21B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 flipV="1">
            <a:off x="9098280" y="1078992"/>
            <a:ext cx="0" cy="292608"/>
          </a:xfrm>
          <a:prstGeom prst="line">
            <a:avLst/>
          </a:prstGeom>
          <a:ln w="25400">
            <a:solidFill>
              <a:srgbClr val="21B7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9025128" y="1005840"/>
            <a:ext cx="146304" cy="146304"/>
          </a:xfrm>
          <a:prstGeom prst="ellipse">
            <a:avLst/>
          </a:prstGeom>
          <a:solidFill>
            <a:srgbClr val="21B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 flipV="1">
            <a:off x="10359107" y="1686946"/>
            <a:ext cx="206906" cy="206906"/>
          </a:xfrm>
          <a:prstGeom prst="line">
            <a:avLst/>
          </a:prstGeom>
          <a:ln w="25400">
            <a:solidFill>
              <a:srgbClr val="21B7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10492861" y="1613794"/>
            <a:ext cx="146304" cy="146304"/>
          </a:xfrm>
          <a:prstGeom prst="ellipse">
            <a:avLst/>
          </a:prstGeom>
          <a:solidFill>
            <a:srgbClr val="21B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3232" y="5833872"/>
            <a:ext cx="63093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98C4D0"/>
                </a:solidFill>
                <a:latin typeface="Aptos"/>
              </a:rPr>
              <a:t>CLINICAL DATA  •  CLASSIFICATION  •  EVALUATION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64240" y="6199632"/>
            <a:ext cx="5029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21B7C5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5303520"/>
            <a:ext cx="1463040" cy="1463040"/>
          </a:xfrm>
          <a:prstGeom prst="ellipse">
            <a:avLst/>
          </a:prstGeom>
          <a:solidFill>
            <a:srgbClr val="D6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27080" y="365760"/>
            <a:ext cx="685800" cy="685800"/>
          </a:xfrm>
          <a:prstGeom prst="ellipse">
            <a:avLst/>
          </a:prstGeom>
          <a:solidFill>
            <a:srgbClr val="DB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29184"/>
            <a:ext cx="41148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008989"/>
                </a:solidFill>
                <a:latin typeface="Aptos Display"/>
              </a:rPr>
              <a:t>PROJECT FRAMING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566928"/>
            <a:ext cx="10378440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1C2C39"/>
                </a:solidFill>
                <a:latin typeface="Aptos Display"/>
              </a:rPr>
              <a:t>Problem Statement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384048"/>
            <a:ext cx="502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300" b="1" i="0">
                <a:solidFill>
                  <a:srgbClr val="008989"/>
                </a:solidFill>
                <a:latin typeface="Aptos Display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298448"/>
            <a:ext cx="886968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C2C39"/>
                </a:solidFill>
                <a:latin typeface="Aptos Display"/>
              </a:rPr>
              <a:t>Can clinical measurements help classify whether heart disease is present?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057400"/>
            <a:ext cx="3429000" cy="2240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2057400"/>
            <a:ext cx="73152" cy="2240280"/>
          </a:xfrm>
          <a:prstGeom prst="rect">
            <a:avLst/>
          </a:prstGeom>
          <a:solidFill>
            <a:srgbClr val="00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2221992"/>
            <a:ext cx="308152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1C2C39"/>
                </a:solidFill>
                <a:latin typeface="Aptos Display"/>
              </a:rPr>
              <a:t>Clinical challenge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578608"/>
            <a:ext cx="3081528" cy="16276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435360"/>
                </a:solidFill>
                <a:latin typeface="Aptos"/>
              </a:rPr>
              <a:t>Heart disease status must be inferred from multiple patient clinical measurements rather than a single variable.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2057400"/>
            <a:ext cx="3429000" cy="2240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2057400"/>
            <a:ext cx="73152" cy="2240280"/>
          </a:xfrm>
          <a:prstGeom prst="rect">
            <a:avLst/>
          </a:prstGeom>
          <a:solidFill>
            <a:srgbClr val="21B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0288" y="2221992"/>
            <a:ext cx="308152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1C2C39"/>
                </a:solidFill>
                <a:latin typeface="Aptos Display"/>
              </a:rPr>
              <a:t>Modeling task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2578608"/>
            <a:ext cx="3081528" cy="16276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435360"/>
                </a:solidFill>
                <a:latin typeface="Aptos"/>
              </a:rPr>
              <a:t>Build binary classifiers that predict “Disease Present” when the original severity target is greater than zero.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2057400"/>
            <a:ext cx="3429000" cy="2240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92440" y="2057400"/>
            <a:ext cx="73152" cy="2240280"/>
          </a:xfrm>
          <a:prstGeom prst="rect">
            <a:avLst/>
          </a:prstGeom>
          <a:solidFill>
            <a:srgbClr val="DC8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93608" y="2221992"/>
            <a:ext cx="308152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1C2C39"/>
                </a:solidFill>
                <a:latin typeface="Aptos Display"/>
              </a:rPr>
              <a:t>Decision criterion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3608" y="2578608"/>
            <a:ext cx="3081528" cy="16276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435360"/>
                </a:solidFill>
                <a:latin typeface="Aptos"/>
              </a:rPr>
              <a:t>Compare Logistic Regression and Decision Tree performance using held-out test metrics and ROC AUC.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4800600"/>
            <a:ext cx="64922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008989"/>
                </a:solidFill>
                <a:latin typeface="Aptos"/>
              </a:rPr>
              <a:t>Target definition: 0 = No Disease • 1 = Disease Present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175504"/>
            <a:ext cx="89611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435360"/>
                </a:solidFill>
                <a:latin typeface="Aptos"/>
              </a:rPr>
              <a:t>The project treats this as a screening-oriented binary classification problem.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528816"/>
            <a:ext cx="6400800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80" b="1" i="0">
                <a:solidFill>
                  <a:srgbClr val="81939D"/>
                </a:solidFill>
                <a:latin typeface="Aptos"/>
              </a:rPr>
              <a:t>HEART DISEASE PREDICTION • MACHINE LEARNING CAPSTONE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0" y="6528816"/>
            <a:ext cx="749808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780" b="1" i="0">
                <a:solidFill>
                  <a:srgbClr val="81939D"/>
                </a:solidFill>
                <a:latin typeface="Aptos"/>
              </a:rPr>
              <a:t>02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5303520"/>
            <a:ext cx="1463040" cy="1463040"/>
          </a:xfrm>
          <a:prstGeom prst="ellipse">
            <a:avLst/>
          </a:prstGeom>
          <a:solidFill>
            <a:srgbClr val="D6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27080" y="365760"/>
            <a:ext cx="685800" cy="685800"/>
          </a:xfrm>
          <a:prstGeom prst="ellipse">
            <a:avLst/>
          </a:prstGeom>
          <a:solidFill>
            <a:srgbClr val="DB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29184"/>
            <a:ext cx="41148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008989"/>
                </a:solidFill>
                <a:latin typeface="Aptos Display"/>
              </a:rPr>
              <a:t>WHAT THE PROJECT DELIVERS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566928"/>
            <a:ext cx="10378440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1C2C39"/>
                </a:solidFill>
                <a:latin typeface="Aptos Display"/>
              </a:rPr>
              <a:t>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384048"/>
            <a:ext cx="502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300" b="1" i="0">
                <a:solidFill>
                  <a:srgbClr val="008989"/>
                </a:solidFill>
                <a:latin typeface="Aptos Display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53312"/>
            <a:ext cx="2880360" cy="1600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73152" cy="1600200"/>
          </a:xfrm>
          <a:prstGeom prst="rect">
            <a:avLst/>
          </a:prstGeom>
          <a:solidFill>
            <a:srgbClr val="00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517904"/>
            <a:ext cx="253288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C2C39"/>
                </a:solidFill>
                <a:latin typeface="Aptos Display"/>
              </a:rPr>
              <a:t>Prepare reliable inputs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1874519"/>
            <a:ext cx="2532888" cy="9875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 i="0">
                <a:solidFill>
                  <a:srgbClr val="435360"/>
                </a:solidFill>
                <a:latin typeface="Aptos"/>
              </a:rPr>
              <a:t>Clean duplicate records, resolve types, and impute missing values.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1353312"/>
            <a:ext cx="2880360" cy="1600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60520" y="1353312"/>
            <a:ext cx="73152" cy="1600200"/>
          </a:xfrm>
          <a:prstGeom prst="rect">
            <a:avLst/>
          </a:prstGeom>
          <a:solidFill>
            <a:srgbClr val="00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61688" y="1517904"/>
            <a:ext cx="253288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C2C39"/>
                </a:solidFill>
                <a:latin typeface="Aptos Display"/>
              </a:rPr>
              <a:t>Understand the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61688" y="1874519"/>
            <a:ext cx="2532888" cy="9875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 i="0">
                <a:solidFill>
                  <a:srgbClr val="435360"/>
                </a:solidFill>
                <a:latin typeface="Aptos"/>
              </a:rPr>
              <a:t>Inspect class balance, feature distributions, and numeric correlations.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5240" y="1353312"/>
            <a:ext cx="2880360" cy="1600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35240" y="1353312"/>
            <a:ext cx="73152" cy="1600200"/>
          </a:xfrm>
          <a:prstGeom prst="rect">
            <a:avLst/>
          </a:prstGeom>
          <a:solidFill>
            <a:srgbClr val="00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36408" y="1517904"/>
            <a:ext cx="253288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C2C39"/>
                </a:solidFill>
                <a:latin typeface="Aptos Display"/>
              </a:rPr>
              <a:t>Train two classifiers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36408" y="1874519"/>
            <a:ext cx="2532888" cy="9875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 i="0">
                <a:solidFill>
                  <a:srgbClr val="435360"/>
                </a:solidFill>
                <a:latin typeface="Aptos"/>
              </a:rPr>
              <a:t>Fit Logistic Regression and a depth-limited Decision Tree.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776472"/>
            <a:ext cx="2880360" cy="1600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5800" y="3776472"/>
            <a:ext cx="73152" cy="1600200"/>
          </a:xfrm>
          <a:prstGeom prst="rect">
            <a:avLst/>
          </a:prstGeom>
          <a:solidFill>
            <a:srgbClr val="21B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6968" y="3941063"/>
            <a:ext cx="253288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C2C39"/>
                </a:solidFill>
                <a:latin typeface="Aptos Display"/>
              </a:rPr>
              <a:t>Evaluate rigorously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" y="4297680"/>
            <a:ext cx="2532888" cy="9875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 i="0">
                <a:solidFill>
                  <a:srgbClr val="435360"/>
                </a:solidFill>
                <a:latin typeface="Aptos"/>
              </a:rPr>
              <a:t>Use accuracy, precision, recall, F1-score, confusion matrices, and ROC AUC.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60520" y="3776472"/>
            <a:ext cx="2880360" cy="1600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60520" y="3776472"/>
            <a:ext cx="73152" cy="1600200"/>
          </a:xfrm>
          <a:prstGeom prst="rect">
            <a:avLst/>
          </a:prstGeom>
          <a:solidFill>
            <a:srgbClr val="21B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61688" y="3941063"/>
            <a:ext cx="253288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C2C39"/>
                </a:solidFill>
                <a:latin typeface="Aptos Display"/>
              </a:rPr>
              <a:t>Select a model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61688" y="4297680"/>
            <a:ext cx="2532888" cy="9875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 i="0">
                <a:solidFill>
                  <a:srgbClr val="435360"/>
                </a:solidFill>
                <a:latin typeface="Aptos"/>
              </a:rPr>
              <a:t>Choose the model that is most appropriate for the test-set evidence.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635240" y="3776472"/>
            <a:ext cx="2880360" cy="1600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635240" y="3776472"/>
            <a:ext cx="73152" cy="1600200"/>
          </a:xfrm>
          <a:prstGeom prst="rect">
            <a:avLst/>
          </a:prstGeom>
          <a:solidFill>
            <a:srgbClr val="21B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36408" y="3941063"/>
            <a:ext cx="253288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C2C39"/>
                </a:solidFill>
                <a:latin typeface="Aptos Display"/>
              </a:rPr>
              <a:t>Demonstrate inference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36408" y="4297680"/>
            <a:ext cx="2532888" cy="9875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 i="0">
                <a:solidFill>
                  <a:srgbClr val="435360"/>
                </a:solidFill>
                <a:latin typeface="Aptos"/>
              </a:rPr>
              <a:t>Run a sample held-out prediction and document limitations.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528816"/>
            <a:ext cx="6400800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80" b="1" i="0">
                <a:solidFill>
                  <a:srgbClr val="81939D"/>
                </a:solidFill>
                <a:latin typeface="Aptos"/>
              </a:rPr>
              <a:t>HEART DISEASE PREDICTION • MACHINE LEARNING CAPSTONE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89920" y="6528816"/>
            <a:ext cx="749808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780" b="1" i="0">
                <a:solidFill>
                  <a:srgbClr val="81939D"/>
                </a:solidFill>
                <a:latin typeface="Aptos"/>
              </a:rPr>
              <a:t>03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5303520"/>
            <a:ext cx="1463040" cy="1463040"/>
          </a:xfrm>
          <a:prstGeom prst="ellipse">
            <a:avLst/>
          </a:prstGeom>
          <a:solidFill>
            <a:srgbClr val="D6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27080" y="365760"/>
            <a:ext cx="685800" cy="685800"/>
          </a:xfrm>
          <a:prstGeom prst="ellipse">
            <a:avLst/>
          </a:prstGeom>
          <a:solidFill>
            <a:srgbClr val="DB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29184"/>
            <a:ext cx="41148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008989"/>
                </a:solidFill>
                <a:latin typeface="Aptos Display"/>
              </a:rPr>
              <a:t>HEART DISEASE UCI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566928"/>
            <a:ext cx="10378440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1C2C39"/>
                </a:solidFill>
                <a:latin typeface="Aptos Display"/>
              </a:rPr>
              <a:t>Dataset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384048"/>
            <a:ext cx="502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300" b="1" i="0">
                <a:solidFill>
                  <a:srgbClr val="008989"/>
                </a:solidFill>
                <a:latin typeface="Aptos Display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1188720"/>
            <a:ext cx="57607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900" b="1" i="0">
                <a:solidFill>
                  <a:srgbClr val="1C2C39"/>
                </a:solidFill>
                <a:latin typeface="Aptos Display"/>
              </a:rPr>
              <a:t>Combined multi-center clinical dataset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55648"/>
            <a:ext cx="19659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700" b="1" i="0">
                <a:solidFill>
                  <a:srgbClr val="008989"/>
                </a:solidFill>
                <a:latin typeface="Aptos Display"/>
              </a:rPr>
              <a:t>920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76856"/>
            <a:ext cx="19659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50" b="1" i="0">
                <a:solidFill>
                  <a:srgbClr val="435360"/>
                </a:solidFill>
                <a:latin typeface="Aptos"/>
              </a:rPr>
              <a:t>Raw patient records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1755648"/>
            <a:ext cx="155448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700" b="1" i="0">
                <a:solidFill>
                  <a:srgbClr val="008989"/>
                </a:solidFill>
                <a:latin typeface="Aptos Display"/>
              </a:rPr>
              <a:t>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2276856"/>
            <a:ext cx="15544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50" b="1" i="0">
                <a:solidFill>
                  <a:srgbClr val="435360"/>
                </a:solidFill>
                <a:latin typeface="Aptos"/>
              </a:rPr>
              <a:t>Raw columns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1755648"/>
            <a:ext cx="155448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700" b="1" i="0">
                <a:solidFill>
                  <a:srgbClr val="008989"/>
                </a:solidFill>
                <a:latin typeface="Aptos Display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276856"/>
            <a:ext cx="15544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50" b="1" i="0">
                <a:solidFill>
                  <a:srgbClr val="435360"/>
                </a:solidFill>
                <a:latin typeface="Aptos"/>
              </a:rPr>
              <a:t>Data sources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1755648"/>
            <a:ext cx="1874519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700" b="1" i="0">
                <a:solidFill>
                  <a:srgbClr val="008989"/>
                </a:solidFill>
                <a:latin typeface="Aptos Display"/>
              </a:rPr>
              <a:t>918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276856"/>
            <a:ext cx="1874519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50" b="1" i="0">
                <a:solidFill>
                  <a:srgbClr val="435360"/>
                </a:solidFill>
                <a:latin typeface="Aptos"/>
              </a:rPr>
              <a:t>Rows after cleaning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13648" y="1755648"/>
            <a:ext cx="17373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700" b="1" i="0">
                <a:solidFill>
                  <a:srgbClr val="008989"/>
                </a:solidFill>
                <a:latin typeface="Aptos Display"/>
              </a:rPr>
              <a:t>14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13648" y="2276856"/>
            <a:ext cx="17373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50" b="1" i="0">
                <a:solidFill>
                  <a:srgbClr val="435360"/>
                </a:solidFill>
                <a:latin typeface="Aptos"/>
              </a:rPr>
              <a:t>Model features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2907792"/>
            <a:ext cx="3703320" cy="21488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2907792"/>
            <a:ext cx="73152" cy="2148840"/>
          </a:xfrm>
          <a:prstGeom prst="rect">
            <a:avLst/>
          </a:prstGeom>
          <a:solidFill>
            <a:srgbClr val="00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072384"/>
            <a:ext cx="335584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C2C39"/>
                </a:solidFill>
                <a:latin typeface="Aptos Display"/>
              </a:rPr>
              <a:t>Sources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" y="3429000"/>
            <a:ext cx="3355848" cy="1536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435360"/>
                </a:solidFill>
                <a:latin typeface="Aptos"/>
              </a:rPr>
              <a:t>Cleveland
Hungary
VA Long Beach
Switzerland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45152" y="2907792"/>
            <a:ext cx="2926080" cy="21488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645152" y="2907792"/>
            <a:ext cx="73152" cy="2148840"/>
          </a:xfrm>
          <a:prstGeom prst="rect">
            <a:avLst/>
          </a:prstGeom>
          <a:solidFill>
            <a:srgbClr val="21B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46320" y="3072384"/>
            <a:ext cx="257860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C2C39"/>
                </a:solidFill>
                <a:latin typeface="Aptos Display"/>
              </a:rPr>
              <a:t>Duplicate handling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0" y="3429000"/>
            <a:ext cx="2578608" cy="1536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435360"/>
                </a:solidFill>
                <a:latin typeface="Aptos"/>
              </a:rPr>
              <a:t>2 duplicate rows were removed after dropping the non-predictive id column.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90688" y="2907792"/>
            <a:ext cx="3611880" cy="21488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90688" y="2907792"/>
            <a:ext cx="73152" cy="2148840"/>
          </a:xfrm>
          <a:prstGeom prst="rect">
            <a:avLst/>
          </a:prstGeom>
          <a:solidFill>
            <a:srgbClr val="DC8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91856" y="3072384"/>
            <a:ext cx="326440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C2C39"/>
                </a:solidFill>
                <a:latin typeface="Aptos Display"/>
              </a:rPr>
              <a:t>Binary target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91856" y="3429000"/>
            <a:ext cx="3264408" cy="1536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435360"/>
                </a:solidFill>
                <a:latin typeface="Aptos"/>
              </a:rPr>
              <a:t>Original num values 0–4 were mapped to target:
0 = No Disease
1 = Disease Present (num &gt; 0)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528816"/>
            <a:ext cx="6400800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80" b="1" i="0">
                <a:solidFill>
                  <a:srgbClr val="81939D"/>
                </a:solidFill>
                <a:latin typeface="Aptos"/>
              </a:rPr>
              <a:t>HEART DISEASE PREDICTION • MACHINE LEARNING CAPSTONE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9920" y="6528816"/>
            <a:ext cx="749808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780" b="1" i="0">
                <a:solidFill>
                  <a:srgbClr val="81939D"/>
                </a:solidFill>
                <a:latin typeface="Aptos"/>
              </a:rPr>
              <a:t>04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5303520"/>
            <a:ext cx="1463040" cy="1463040"/>
          </a:xfrm>
          <a:prstGeom prst="ellipse">
            <a:avLst/>
          </a:prstGeom>
          <a:solidFill>
            <a:srgbClr val="D6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27080" y="365760"/>
            <a:ext cx="685800" cy="685800"/>
          </a:xfrm>
          <a:prstGeom prst="ellipse">
            <a:avLst/>
          </a:prstGeom>
          <a:solidFill>
            <a:srgbClr val="DB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29184"/>
            <a:ext cx="41148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008989"/>
                </a:solidFill>
                <a:latin typeface="Aptos Display"/>
              </a:rPr>
              <a:t>CLINICAL VARIABLES USED FOR MODELING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566928"/>
            <a:ext cx="10378440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1C2C39"/>
                </a:solidFill>
                <a:latin typeface="Aptos Display"/>
              </a:rPr>
              <a:t>Dataset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384048"/>
            <a:ext cx="502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300" b="1" i="0">
                <a:solidFill>
                  <a:srgbClr val="008989"/>
                </a:solidFill>
                <a:latin typeface="Aptos Display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25880"/>
            <a:ext cx="2926080" cy="16916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325880"/>
            <a:ext cx="73152" cy="1691640"/>
          </a:xfrm>
          <a:prstGeom prst="rect">
            <a:avLst/>
          </a:prstGeom>
          <a:solidFill>
            <a:srgbClr val="00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490472"/>
            <a:ext cx="257860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C2C39"/>
                </a:solidFill>
                <a:latin typeface="Aptos Display"/>
              </a:rPr>
              <a:t>Demographics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1847088"/>
            <a:ext cx="2578608" cy="10789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30" b="0" i="0">
                <a:solidFill>
                  <a:srgbClr val="435360"/>
                </a:solidFill>
                <a:latin typeface="Aptos"/>
              </a:rPr>
              <a:t>age, sex, dataset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50791" y="1325880"/>
            <a:ext cx="2926080" cy="16916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050791" y="1325880"/>
            <a:ext cx="73152" cy="1691640"/>
          </a:xfrm>
          <a:prstGeom prst="rect">
            <a:avLst/>
          </a:prstGeom>
          <a:solidFill>
            <a:srgbClr val="00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51959" y="1490472"/>
            <a:ext cx="257860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C2C39"/>
                </a:solidFill>
                <a:latin typeface="Aptos Display"/>
              </a:rPr>
              <a:t>Symptoms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59" y="1847088"/>
            <a:ext cx="2578608" cy="10789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30" b="0" i="0">
                <a:solidFill>
                  <a:srgbClr val="435360"/>
                </a:solidFill>
                <a:latin typeface="Aptos"/>
              </a:rPr>
              <a:t>cp (chest pain type), exang (exercise-induced angina)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15783" y="1325880"/>
            <a:ext cx="2926080" cy="16916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15783" y="1325880"/>
            <a:ext cx="73152" cy="1691640"/>
          </a:xfrm>
          <a:prstGeom prst="rect">
            <a:avLst/>
          </a:prstGeom>
          <a:solidFill>
            <a:srgbClr val="00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16952" y="1490472"/>
            <a:ext cx="257860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C2C39"/>
                </a:solidFill>
                <a:latin typeface="Aptos Display"/>
              </a:rPr>
              <a:t>Vital signs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16952" y="1847088"/>
            <a:ext cx="2578608" cy="10789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30" b="0" i="0">
                <a:solidFill>
                  <a:srgbClr val="435360"/>
                </a:solidFill>
                <a:latin typeface="Aptos"/>
              </a:rPr>
              <a:t>trestbps (resting blood pressure), thalch (max heart rate)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703320"/>
            <a:ext cx="2926080" cy="16916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5800" y="3703320"/>
            <a:ext cx="73152" cy="1691640"/>
          </a:xfrm>
          <a:prstGeom prst="rect">
            <a:avLst/>
          </a:prstGeom>
          <a:solidFill>
            <a:srgbClr val="21B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6968" y="3867911"/>
            <a:ext cx="257860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C2C39"/>
                </a:solidFill>
                <a:latin typeface="Aptos Display"/>
              </a:rPr>
              <a:t>Lab measure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" y="4224528"/>
            <a:ext cx="2578608" cy="10789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30" b="0" i="0">
                <a:solidFill>
                  <a:srgbClr val="435360"/>
                </a:solidFill>
                <a:latin typeface="Aptos"/>
              </a:rPr>
              <a:t>chol (serum cholesterol), fbs (fasting blood sugar)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050791" y="3703320"/>
            <a:ext cx="2926080" cy="16916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050791" y="3703320"/>
            <a:ext cx="73152" cy="1691640"/>
          </a:xfrm>
          <a:prstGeom prst="rect">
            <a:avLst/>
          </a:prstGeom>
          <a:solidFill>
            <a:srgbClr val="21B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51959" y="3867911"/>
            <a:ext cx="257860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C2C39"/>
                </a:solidFill>
                <a:latin typeface="Aptos Display"/>
              </a:rPr>
              <a:t>ECG &amp; stress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59" y="4224528"/>
            <a:ext cx="2578608" cy="10789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30" b="0" i="0">
                <a:solidFill>
                  <a:srgbClr val="435360"/>
                </a:solidFill>
                <a:latin typeface="Aptos"/>
              </a:rPr>
              <a:t>restecg, oldpeak, slope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15783" y="3703320"/>
            <a:ext cx="2926080" cy="16916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415783" y="3703320"/>
            <a:ext cx="73152" cy="1691640"/>
          </a:xfrm>
          <a:prstGeom prst="rect">
            <a:avLst/>
          </a:prstGeom>
          <a:solidFill>
            <a:srgbClr val="21B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16952" y="3867911"/>
            <a:ext cx="257860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C2C39"/>
                </a:solidFill>
                <a:latin typeface="Aptos Display"/>
              </a:rPr>
              <a:t>Vessel / thalassemia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16952" y="4224528"/>
            <a:ext cx="2578608" cy="10789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30" b="0" i="0">
                <a:solidFill>
                  <a:srgbClr val="435360"/>
                </a:solidFill>
                <a:latin typeface="Aptos"/>
              </a:rPr>
              <a:t>ca, thal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528816"/>
            <a:ext cx="6400800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80" b="1" i="0">
                <a:solidFill>
                  <a:srgbClr val="81939D"/>
                </a:solidFill>
                <a:latin typeface="Aptos"/>
              </a:rPr>
              <a:t>HEART DISEASE PREDICTION • MACHINE LEARNING CAPSTONE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89920" y="6528816"/>
            <a:ext cx="749808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780" b="1" i="0">
                <a:solidFill>
                  <a:srgbClr val="81939D"/>
                </a:solidFill>
                <a:latin typeface="Aptos"/>
              </a:rPr>
              <a:t>05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5303520"/>
            <a:ext cx="1463040" cy="1463040"/>
          </a:xfrm>
          <a:prstGeom prst="ellipse">
            <a:avLst/>
          </a:prstGeom>
          <a:solidFill>
            <a:srgbClr val="D6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27080" y="365760"/>
            <a:ext cx="685800" cy="685800"/>
          </a:xfrm>
          <a:prstGeom prst="ellipse">
            <a:avLst/>
          </a:prstGeom>
          <a:solidFill>
            <a:srgbClr val="DB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29184"/>
            <a:ext cx="41148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008989"/>
                </a:solidFill>
                <a:latin typeface="Aptos Display"/>
              </a:rPr>
              <a:t>END-TO-END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566928"/>
            <a:ext cx="10378440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1C2C39"/>
                </a:solidFill>
                <a:latin typeface="Aptos Display"/>
              </a:rPr>
              <a:t>Machine Learning 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384048"/>
            <a:ext cx="502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300" b="1" i="0">
                <a:solidFill>
                  <a:srgbClr val="008989"/>
                </a:solidFill>
                <a:latin typeface="Aptos Display"/>
              </a:rPr>
              <a:t>06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1828800"/>
            <a:ext cx="548640" cy="548640"/>
          </a:xfrm>
          <a:prstGeom prst="ellipse">
            <a:avLst/>
          </a:prstGeom>
          <a:solidFill>
            <a:srgbClr val="00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920240"/>
            <a:ext cx="548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487168"/>
            <a:ext cx="118872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50" b="1" i="0">
                <a:solidFill>
                  <a:srgbClr val="1C2C39"/>
                </a:solidFill>
                <a:latin typeface="Aptos"/>
              </a:rPr>
              <a:t>Load &amp; inspect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252728" y="2103120"/>
            <a:ext cx="950976" cy="0"/>
          </a:xfrm>
          <a:prstGeom prst="line">
            <a:avLst/>
          </a:prstGeom>
          <a:ln w="19050">
            <a:solidFill>
              <a:srgbClr val="6BA3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2267712" y="1828800"/>
            <a:ext cx="548640" cy="548640"/>
          </a:xfrm>
          <a:prstGeom prst="ellipse">
            <a:avLst/>
          </a:prstGeom>
          <a:solidFill>
            <a:srgbClr val="00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67712" y="1920240"/>
            <a:ext cx="548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47672" y="2487168"/>
            <a:ext cx="118872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50" b="1" i="0">
                <a:solidFill>
                  <a:srgbClr val="1C2C39"/>
                </a:solidFill>
                <a:latin typeface="Aptos"/>
              </a:rPr>
              <a:t>Clean &amp; impute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834640" y="2103120"/>
            <a:ext cx="950975" cy="0"/>
          </a:xfrm>
          <a:prstGeom prst="line">
            <a:avLst/>
          </a:prstGeom>
          <a:ln w="19050">
            <a:solidFill>
              <a:srgbClr val="6BA3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3849624" y="1828800"/>
            <a:ext cx="548640" cy="548640"/>
          </a:xfrm>
          <a:prstGeom prst="ellipse">
            <a:avLst/>
          </a:prstGeom>
          <a:solidFill>
            <a:srgbClr val="00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9624" y="1920240"/>
            <a:ext cx="548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9584" y="2487168"/>
            <a:ext cx="118872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50" b="1" i="0">
                <a:solidFill>
                  <a:srgbClr val="1C2C39"/>
                </a:solidFill>
                <a:latin typeface="Aptos"/>
              </a:rPr>
              <a:t>EDA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416552" y="2103120"/>
            <a:ext cx="950976" cy="0"/>
          </a:xfrm>
          <a:prstGeom prst="line">
            <a:avLst/>
          </a:prstGeom>
          <a:ln w="19050">
            <a:solidFill>
              <a:srgbClr val="6BA3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5431536" y="1828800"/>
            <a:ext cx="548640" cy="548640"/>
          </a:xfrm>
          <a:prstGeom prst="ellipse">
            <a:avLst/>
          </a:prstGeom>
          <a:solidFill>
            <a:srgbClr val="00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31536" y="1920240"/>
            <a:ext cx="548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ptos Display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11496" y="2487168"/>
            <a:ext cx="118872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50" b="1" i="0">
                <a:solidFill>
                  <a:srgbClr val="1C2C39"/>
                </a:solidFill>
                <a:latin typeface="Aptos"/>
              </a:rPr>
              <a:t>Encode &amp; split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998464" y="2103120"/>
            <a:ext cx="950976" cy="0"/>
          </a:xfrm>
          <a:prstGeom prst="line">
            <a:avLst/>
          </a:prstGeom>
          <a:ln w="19050">
            <a:solidFill>
              <a:srgbClr val="6BA3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7013448" y="1828800"/>
            <a:ext cx="548640" cy="548640"/>
          </a:xfrm>
          <a:prstGeom prst="ellipse">
            <a:avLst/>
          </a:prstGeom>
          <a:solidFill>
            <a:srgbClr val="21B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13448" y="1920240"/>
            <a:ext cx="548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ptos Display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93408" y="2487168"/>
            <a:ext cx="118872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50" b="1" i="0">
                <a:solidFill>
                  <a:srgbClr val="1C2C39"/>
                </a:solidFill>
                <a:latin typeface="Aptos"/>
              </a:rPr>
              <a:t>Scale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580375" y="2103120"/>
            <a:ext cx="950977" cy="0"/>
          </a:xfrm>
          <a:prstGeom prst="line">
            <a:avLst/>
          </a:prstGeom>
          <a:ln w="19050">
            <a:solidFill>
              <a:srgbClr val="6BA3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8595360" y="1828800"/>
            <a:ext cx="548640" cy="548640"/>
          </a:xfrm>
          <a:prstGeom prst="ellipse">
            <a:avLst/>
          </a:prstGeom>
          <a:solidFill>
            <a:srgbClr val="21B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95360" y="1920240"/>
            <a:ext cx="548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ptos Display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2487168"/>
            <a:ext cx="118872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50" b="1" i="0">
                <a:solidFill>
                  <a:srgbClr val="1C2C39"/>
                </a:solidFill>
                <a:latin typeface="Aptos"/>
              </a:rPr>
              <a:t>Train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162288" y="2103120"/>
            <a:ext cx="950976" cy="0"/>
          </a:xfrm>
          <a:prstGeom prst="line">
            <a:avLst/>
          </a:prstGeom>
          <a:ln w="19050">
            <a:solidFill>
              <a:srgbClr val="6BA3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10177272" y="1828800"/>
            <a:ext cx="548640" cy="548640"/>
          </a:xfrm>
          <a:prstGeom prst="ellipse">
            <a:avLst/>
          </a:prstGeom>
          <a:solidFill>
            <a:srgbClr val="21B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177272" y="1920240"/>
            <a:ext cx="548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ptos Display"/>
              </a:rPr>
              <a:t>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57232" y="2487168"/>
            <a:ext cx="118872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50" b="1" i="0">
                <a:solidFill>
                  <a:srgbClr val="1C2C39"/>
                </a:solidFill>
                <a:latin typeface="Aptos"/>
              </a:rPr>
              <a:t>Evaluate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3767328"/>
            <a:ext cx="3182112" cy="14173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31520" y="3767328"/>
            <a:ext cx="73152" cy="1417320"/>
          </a:xfrm>
          <a:prstGeom prst="rect">
            <a:avLst/>
          </a:prstGeom>
          <a:solidFill>
            <a:srgbClr val="00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2688" y="3931920"/>
            <a:ext cx="2834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C2C39"/>
                </a:solidFill>
                <a:latin typeface="Aptos Display"/>
              </a:rPr>
              <a:t>Data split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" y="4288536"/>
            <a:ext cx="283464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435360"/>
                </a:solidFill>
                <a:latin typeface="Aptos"/>
              </a:rPr>
              <a:t>80/20 train/test split with stratification and random_state = 42.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498848" y="3767328"/>
            <a:ext cx="3182112" cy="14173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498848" y="3767328"/>
            <a:ext cx="73152" cy="1417320"/>
          </a:xfrm>
          <a:prstGeom prst="rect">
            <a:avLst/>
          </a:prstGeom>
          <a:solidFill>
            <a:srgbClr val="21B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00016" y="3931920"/>
            <a:ext cx="2834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C2C39"/>
                </a:solidFill>
                <a:latin typeface="Aptos Display"/>
              </a:rPr>
              <a:t>Models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00016" y="4288536"/>
            <a:ext cx="283464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435360"/>
                </a:solidFill>
                <a:latin typeface="Aptos"/>
              </a:rPr>
              <a:t>Logistic Regression (max_iter=1000) and Decision Tree (max_depth=5).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266175" y="3767328"/>
            <a:ext cx="3182112" cy="14173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266175" y="3767328"/>
            <a:ext cx="73152" cy="1417320"/>
          </a:xfrm>
          <a:prstGeom prst="rect">
            <a:avLst/>
          </a:prstGeom>
          <a:solidFill>
            <a:srgbClr val="DC8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67344" y="3931920"/>
            <a:ext cx="2834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C2C39"/>
                </a:solidFill>
                <a:latin typeface="Aptos Display"/>
              </a:rPr>
              <a:t>Evaluation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67344" y="4288536"/>
            <a:ext cx="283464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435360"/>
                </a:solidFill>
                <a:latin typeface="Aptos"/>
              </a:rPr>
              <a:t>Accuracy, Precision, Recall, F1-score, Confusion Matrix, and ROC AUC.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" y="5669280"/>
            <a:ext cx="77724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008989"/>
                </a:solidFill>
                <a:latin typeface="Aptos"/>
              </a:rPr>
              <a:t>StandardScaler was fit on the training data only to avoid data leakage.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" y="6528816"/>
            <a:ext cx="6400800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80" b="1" i="0">
                <a:solidFill>
                  <a:srgbClr val="81939D"/>
                </a:solidFill>
                <a:latin typeface="Aptos"/>
              </a:rPr>
              <a:t>HEART DISEASE PREDICTION • MACHINE LEARNING CAPSTONE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89920" y="6528816"/>
            <a:ext cx="749808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780" b="1" i="0">
                <a:solidFill>
                  <a:srgbClr val="81939D"/>
                </a:solidFill>
                <a:latin typeface="Aptos"/>
              </a:rPr>
              <a:t>06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5303520"/>
            <a:ext cx="1463040" cy="1463040"/>
          </a:xfrm>
          <a:prstGeom prst="ellipse">
            <a:avLst/>
          </a:prstGeom>
          <a:solidFill>
            <a:srgbClr val="D6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27080" y="365760"/>
            <a:ext cx="685800" cy="685800"/>
          </a:xfrm>
          <a:prstGeom prst="ellipse">
            <a:avLst/>
          </a:prstGeom>
          <a:solidFill>
            <a:srgbClr val="DB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29184"/>
            <a:ext cx="41148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008989"/>
                </a:solidFill>
                <a:latin typeface="Aptos Display"/>
              </a:rPr>
              <a:t>DOCUMENTED CLEANING DECISIONS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566928"/>
            <a:ext cx="10378440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1C2C39"/>
                </a:solidFill>
                <a:latin typeface="Aptos Display"/>
              </a:rPr>
              <a:t>Data Preprocessing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384048"/>
            <a:ext cx="502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300" b="1" i="0">
                <a:solidFill>
                  <a:srgbClr val="008989"/>
                </a:solidFill>
                <a:latin typeface="Aptos Display"/>
              </a:rP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07592"/>
            <a:ext cx="2971800" cy="16459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307592"/>
            <a:ext cx="73152" cy="1645920"/>
          </a:xfrm>
          <a:prstGeom prst="rect">
            <a:avLst/>
          </a:prstGeom>
          <a:solidFill>
            <a:srgbClr val="00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472184"/>
            <a:ext cx="262432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C2C39"/>
                </a:solidFill>
                <a:latin typeface="Aptos Display"/>
              </a:rPr>
              <a:t>Drop 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1828800"/>
            <a:ext cx="2624328" cy="1033271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80" b="0" i="0">
                <a:solidFill>
                  <a:srgbClr val="435360"/>
                </a:solidFill>
                <a:latin typeface="Aptos"/>
              </a:rPr>
              <a:t>Identifier removed because it is not predictive.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96512" y="1307592"/>
            <a:ext cx="2971800" cy="16459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096512" y="1307592"/>
            <a:ext cx="73152" cy="1645920"/>
          </a:xfrm>
          <a:prstGeom prst="rect">
            <a:avLst/>
          </a:prstGeom>
          <a:solidFill>
            <a:srgbClr val="00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1472184"/>
            <a:ext cx="262432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C2C39"/>
                </a:solidFill>
                <a:latin typeface="Aptos Display"/>
              </a:rPr>
              <a:t>Remove duplicates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1828800"/>
            <a:ext cx="2624328" cy="1033271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80" b="0" i="0">
                <a:solidFill>
                  <a:srgbClr val="435360"/>
                </a:solidFill>
                <a:latin typeface="Aptos"/>
              </a:rPr>
              <a:t>2 duplicate rows removed.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07224" y="1307592"/>
            <a:ext cx="2971800" cy="16459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507224" y="1307592"/>
            <a:ext cx="73152" cy="1645920"/>
          </a:xfrm>
          <a:prstGeom prst="rect">
            <a:avLst/>
          </a:prstGeom>
          <a:solidFill>
            <a:srgbClr val="00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08392" y="1472184"/>
            <a:ext cx="262432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C2C39"/>
                </a:solidFill>
                <a:latin typeface="Aptos Display"/>
              </a:rPr>
              <a:t>Fix boolean fields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08392" y="1828800"/>
            <a:ext cx="2624328" cy="1033271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80" b="0" i="0">
                <a:solidFill>
                  <a:srgbClr val="435360"/>
                </a:solidFill>
                <a:latin typeface="Aptos"/>
              </a:rPr>
              <a:t>fbs and exang converted from TRUE/FALSE to 0/1.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657600"/>
            <a:ext cx="2971800" cy="16459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5800" y="3657600"/>
            <a:ext cx="73152" cy="1645920"/>
          </a:xfrm>
          <a:prstGeom prst="rect">
            <a:avLst/>
          </a:prstGeom>
          <a:solidFill>
            <a:srgbClr val="21B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6968" y="3822191"/>
            <a:ext cx="262432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C2C39"/>
                </a:solidFill>
                <a:latin typeface="Aptos Display"/>
              </a:rPr>
              <a:t>Binarize target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" y="4178808"/>
            <a:ext cx="2624328" cy="1033271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80" b="0" i="0">
                <a:solidFill>
                  <a:srgbClr val="435360"/>
                </a:solidFill>
                <a:latin typeface="Aptos"/>
              </a:rPr>
              <a:t>num &gt; 0 mapped to Disease Present.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096512" y="3657600"/>
            <a:ext cx="2971800" cy="16459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096512" y="3657600"/>
            <a:ext cx="73152" cy="1645920"/>
          </a:xfrm>
          <a:prstGeom prst="rect">
            <a:avLst/>
          </a:prstGeom>
          <a:solidFill>
            <a:srgbClr val="21B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97680" y="3822191"/>
            <a:ext cx="262432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C2C39"/>
                </a:solidFill>
                <a:latin typeface="Aptos Display"/>
              </a:rPr>
              <a:t>Impute missing values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0" y="4178808"/>
            <a:ext cx="2624328" cy="1033271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80" b="0" i="0">
                <a:solidFill>
                  <a:srgbClr val="435360"/>
                </a:solidFill>
                <a:latin typeface="Aptos"/>
              </a:rPr>
              <a:t>Median for numeric fields; mode for categorical fields.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07224" y="3657600"/>
            <a:ext cx="2971800" cy="16459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507224" y="3657600"/>
            <a:ext cx="73152" cy="1645920"/>
          </a:xfrm>
          <a:prstGeom prst="rect">
            <a:avLst/>
          </a:prstGeom>
          <a:solidFill>
            <a:srgbClr val="21B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08392" y="3822191"/>
            <a:ext cx="262432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C2C39"/>
                </a:solidFill>
                <a:latin typeface="Aptos Display"/>
              </a:rPr>
              <a:t>Encode &amp; scale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08392" y="4178808"/>
            <a:ext cx="2624328" cy="1033271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80" b="0" i="0">
                <a:solidFill>
                  <a:srgbClr val="435360"/>
                </a:solidFill>
                <a:latin typeface="Aptos"/>
              </a:rPr>
              <a:t>Categoricals label-encoded; StandardScaler applied after split.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" y="5715000"/>
            <a:ext cx="97840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DC8452"/>
                </a:solidFill>
                <a:latin typeface="Aptos"/>
              </a:rPr>
              <a:t>Important limitation: ca and thal had high raw missingness and were mode-imputed.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528816"/>
            <a:ext cx="6400800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80" b="1" i="0">
                <a:solidFill>
                  <a:srgbClr val="81939D"/>
                </a:solidFill>
                <a:latin typeface="Aptos"/>
              </a:rPr>
              <a:t>HEART DISEASE PREDICTION • MACHINE LEARNING CAPSTONE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89920" y="6528816"/>
            <a:ext cx="749808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780" b="1" i="0">
                <a:solidFill>
                  <a:srgbClr val="81939D"/>
                </a:solidFill>
                <a:latin typeface="Aptos"/>
              </a:rPr>
              <a:t>07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5303520"/>
            <a:ext cx="1463040" cy="1463040"/>
          </a:xfrm>
          <a:prstGeom prst="ellipse">
            <a:avLst/>
          </a:prstGeom>
          <a:solidFill>
            <a:srgbClr val="D6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27080" y="365760"/>
            <a:ext cx="685800" cy="685800"/>
          </a:xfrm>
          <a:prstGeom prst="ellipse">
            <a:avLst/>
          </a:prstGeom>
          <a:solidFill>
            <a:srgbClr val="DB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29184"/>
            <a:ext cx="41148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008989"/>
                </a:solidFill>
                <a:latin typeface="Aptos Display"/>
              </a:rPr>
              <a:t>CLASS BALANCE, DISTRIBUTIONS, AND CORRELATIONS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566928"/>
            <a:ext cx="10378440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1C2C39"/>
                </a:solidFill>
                <a:latin typeface="Aptos Display"/>
              </a:rPr>
              <a:t>Exploratory Data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384048"/>
            <a:ext cx="502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300" b="1" i="0">
                <a:solidFill>
                  <a:srgbClr val="008989"/>
                </a:solidFill>
                <a:latin typeface="Aptos Display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" y="1234440"/>
            <a:ext cx="3063240" cy="2423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1_target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1234440"/>
            <a:ext cx="2907791" cy="242316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3931920" y="1234440"/>
            <a:ext cx="7269480" cy="2423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2_feature_distribu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2740" y="1234440"/>
            <a:ext cx="4307839" cy="242316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67512" y="3977639"/>
            <a:ext cx="4434840" cy="2148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03_correlation_heat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2371" y="3977639"/>
            <a:ext cx="2865120" cy="214884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5394960" y="3977639"/>
            <a:ext cx="5806440" cy="21488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394960" y="3977639"/>
            <a:ext cx="73152" cy="2148840"/>
          </a:xfrm>
          <a:prstGeom prst="rect">
            <a:avLst/>
          </a:prstGeom>
          <a:solidFill>
            <a:srgbClr val="00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96128" y="4142231"/>
            <a:ext cx="545896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C2C39"/>
                </a:solidFill>
                <a:latin typeface="Aptos Display"/>
              </a:rPr>
              <a:t>EDA takeaways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6128" y="4498848"/>
            <a:ext cx="5458968" cy="1536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435360"/>
                </a:solidFill>
                <a:latin typeface="Aptos"/>
              </a:rPr>
              <a:t>• Final binary distribution: 410 No Disease vs 508 Disease.
• Numeric distributions were inspected by disease class.
• Correlation heatmap was generated for numeric features and target.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528816"/>
            <a:ext cx="6400800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80" b="1" i="0">
                <a:solidFill>
                  <a:srgbClr val="81939D"/>
                </a:solidFill>
                <a:latin typeface="Aptos"/>
              </a:rPr>
              <a:t>HEART DISEASE PREDICTION • MACHINE LEARNING CAPSTONE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528816"/>
            <a:ext cx="749808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780" b="1" i="0">
                <a:solidFill>
                  <a:srgbClr val="81939D"/>
                </a:solidFill>
                <a:latin typeface="Aptos"/>
              </a:rPr>
              <a:t>08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5303520"/>
            <a:ext cx="1463040" cy="1463040"/>
          </a:xfrm>
          <a:prstGeom prst="ellipse">
            <a:avLst/>
          </a:prstGeom>
          <a:solidFill>
            <a:srgbClr val="D6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27080" y="365760"/>
            <a:ext cx="685800" cy="685800"/>
          </a:xfrm>
          <a:prstGeom prst="ellipse">
            <a:avLst/>
          </a:prstGeom>
          <a:solidFill>
            <a:srgbClr val="DB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29184"/>
            <a:ext cx="41148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008989"/>
                </a:solidFill>
                <a:latin typeface="Aptos Display"/>
              </a:rPr>
              <a:t>LINEAR PROBABILISTIC CLASSIFIER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566928"/>
            <a:ext cx="10378440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1C2C39"/>
                </a:solidFill>
                <a:latin typeface="Aptos Display"/>
              </a:rPr>
              <a:t>Logistic Regression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384048"/>
            <a:ext cx="502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300" b="1" i="0">
                <a:solidFill>
                  <a:srgbClr val="008989"/>
                </a:solidFill>
                <a:latin typeface="Aptos Display"/>
              </a:rP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25880"/>
            <a:ext cx="3108960" cy="1874519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325880"/>
            <a:ext cx="73152" cy="1874519"/>
          </a:xfrm>
          <a:prstGeom prst="rect">
            <a:avLst/>
          </a:prstGeom>
          <a:solidFill>
            <a:srgbClr val="00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490472"/>
            <a:ext cx="276148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1C2C39"/>
                </a:solidFill>
                <a:latin typeface="Aptos Display"/>
              </a:rPr>
              <a:t>Configuration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1847088"/>
            <a:ext cx="2761488" cy="12618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0" i="0">
                <a:solidFill>
                  <a:srgbClr val="435360"/>
                </a:solidFill>
                <a:latin typeface="Aptos"/>
              </a:rPr>
              <a:t>LogisticRegression
random_state = 42
max_iter = 1000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474720"/>
            <a:ext cx="3108960" cy="1874519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3474720"/>
            <a:ext cx="73152" cy="1874519"/>
          </a:xfrm>
          <a:prstGeom prst="rect">
            <a:avLst/>
          </a:prstGeom>
          <a:solidFill>
            <a:srgbClr val="21B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3639312"/>
            <a:ext cx="276148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1C2C39"/>
                </a:solidFill>
                <a:latin typeface="Aptos Display"/>
              </a:rPr>
              <a:t>Test-set 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3995928"/>
            <a:ext cx="2761488" cy="12618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435360"/>
                </a:solidFill>
                <a:latin typeface="Aptos"/>
              </a:rPr>
              <a:t>Accuracy: 0.8152
Precision: 0.8148
Recall: 0.8627
F1-score: 0.8381
ROC AUC: 0.9073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15968" y="1554480"/>
            <a:ext cx="201168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700" b="1" i="0">
                <a:solidFill>
                  <a:srgbClr val="008989"/>
                </a:solidFill>
                <a:latin typeface="Aptos Display"/>
              </a:rPr>
              <a:t>0.9073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15968" y="2075688"/>
            <a:ext cx="20116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50" b="1" i="0">
                <a:solidFill>
                  <a:srgbClr val="435360"/>
                </a:solidFill>
                <a:latin typeface="Aptos"/>
              </a:rPr>
              <a:t>ROC AUC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1554480"/>
            <a:ext cx="201168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700" b="1" i="0">
                <a:solidFill>
                  <a:srgbClr val="008989"/>
                </a:solidFill>
                <a:latin typeface="Aptos Display"/>
              </a:rPr>
              <a:t>0.8627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2075688"/>
            <a:ext cx="20116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50" b="1" i="0">
                <a:solidFill>
                  <a:srgbClr val="435360"/>
                </a:solidFill>
                <a:latin typeface="Aptos"/>
              </a:rPr>
              <a:t>Recall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59952" y="1554480"/>
            <a:ext cx="201168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700" b="1" i="0">
                <a:solidFill>
                  <a:srgbClr val="008989"/>
                </a:solidFill>
                <a:latin typeface="Aptos Display"/>
              </a:rPr>
              <a:t>0.8381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59952" y="2075688"/>
            <a:ext cx="20116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50" b="1" i="0">
                <a:solidFill>
                  <a:srgbClr val="435360"/>
                </a:solidFill>
                <a:latin typeface="Aptos"/>
              </a:rPr>
              <a:t>F1-score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70248" y="2971800"/>
            <a:ext cx="48463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 i="0">
                <a:solidFill>
                  <a:srgbClr val="1C2C39"/>
                </a:solidFill>
                <a:latin typeface="Aptos Display"/>
              </a:rPr>
              <a:t>Why it was selected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15968" y="3456432"/>
            <a:ext cx="6675120" cy="18288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C2C39"/>
                </a:solidFill>
                <a:latin typeface="Aptos"/>
              </a:defRPr>
            </a:pPr>
            <a:r>
              <a:t>• Matched Decision Tree accuracy at 0.8152.</a:t>
            </a:r>
          </a:p>
          <a:p>
            <a:pPr>
              <a:spcAft>
                <a:spcPts val="800"/>
              </a:spcAft>
              <a:defRPr sz="1600">
                <a:solidFill>
                  <a:srgbClr val="1C2C39"/>
                </a:solidFill>
                <a:latin typeface="Aptos"/>
              </a:defRPr>
            </a:pPr>
            <a:r>
              <a:t>• Delivered higher ROC AUC than the Decision Tree (0.9073 vs 0.8684).</a:t>
            </a:r>
          </a:p>
          <a:p>
            <a:pPr>
              <a:spcAft>
                <a:spcPts val="800"/>
              </a:spcAft>
              <a:defRPr sz="1600">
                <a:solidFill>
                  <a:srgbClr val="1C2C39"/>
                </a:solidFill>
                <a:latin typeface="Aptos"/>
              </a:defRPr>
            </a:pPr>
            <a:r>
              <a:t>• Delivered higher recall (0.8627 vs 0.8039), reducing false negatives in this screening-oriented context.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528816"/>
            <a:ext cx="6400800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80" b="1" i="0">
                <a:solidFill>
                  <a:srgbClr val="81939D"/>
                </a:solidFill>
                <a:latin typeface="Aptos"/>
              </a:rPr>
              <a:t>HEART DISEASE PREDICTION • MACHINE LEARNING CAPSTONE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6528816"/>
            <a:ext cx="749808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780" b="1" i="0">
                <a:solidFill>
                  <a:srgbClr val="81939D"/>
                </a:solidFill>
                <a:latin typeface="Aptos"/>
              </a:rPr>
              <a:t>09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5303520"/>
            <a:ext cx="1463040" cy="1463040"/>
          </a:xfrm>
          <a:prstGeom prst="ellipse">
            <a:avLst/>
          </a:prstGeom>
          <a:solidFill>
            <a:srgbClr val="D6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27080" y="365760"/>
            <a:ext cx="685800" cy="685800"/>
          </a:xfrm>
          <a:prstGeom prst="ellipse">
            <a:avLst/>
          </a:prstGeom>
          <a:solidFill>
            <a:srgbClr val="DB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29184"/>
            <a:ext cx="41148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008989"/>
                </a:solidFill>
                <a:latin typeface="Aptos Display"/>
              </a:rPr>
              <a:t>NONLINEAR RULE-BASED CLASSIFIER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566928"/>
            <a:ext cx="10378440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1C2C39"/>
                </a:solidFill>
                <a:latin typeface="Aptos Display"/>
              </a:rPr>
              <a:t>Decision Tree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384048"/>
            <a:ext cx="502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300" b="1" i="0">
                <a:solidFill>
                  <a:srgbClr val="008989"/>
                </a:solidFill>
                <a:latin typeface="Aptos Display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25880"/>
            <a:ext cx="3108960" cy="1874519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325880"/>
            <a:ext cx="73152" cy="1874519"/>
          </a:xfrm>
          <a:prstGeom prst="rect">
            <a:avLst/>
          </a:prstGeom>
          <a:solidFill>
            <a:srgbClr val="00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490472"/>
            <a:ext cx="276148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1C2C39"/>
                </a:solidFill>
                <a:latin typeface="Aptos Display"/>
              </a:rPr>
              <a:t>Configuration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1847088"/>
            <a:ext cx="2761488" cy="12618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0" i="0">
                <a:solidFill>
                  <a:srgbClr val="435360"/>
                </a:solidFill>
                <a:latin typeface="Aptos"/>
              </a:rPr>
              <a:t>DecisionTreeClassifier
random_state = 42
max_depth = 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474720"/>
            <a:ext cx="3108960" cy="1874519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3474720"/>
            <a:ext cx="73152" cy="1874519"/>
          </a:xfrm>
          <a:prstGeom prst="rect">
            <a:avLst/>
          </a:prstGeom>
          <a:solidFill>
            <a:srgbClr val="21B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3639312"/>
            <a:ext cx="276148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1C2C39"/>
                </a:solidFill>
                <a:latin typeface="Aptos Display"/>
              </a:rPr>
              <a:t>Test-set 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3995928"/>
            <a:ext cx="2761488" cy="12618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435360"/>
                </a:solidFill>
                <a:latin typeface="Aptos"/>
              </a:rPr>
              <a:t>Accuracy: 0.8152
Precision: 0.8542
Recall: 0.8039
F1-score: 0.8283
ROC AUC: 0.8684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1207008"/>
            <a:ext cx="45720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 i="0">
                <a:solidFill>
                  <a:srgbClr val="1C2C39"/>
                </a:solidFill>
                <a:latin typeface="Aptos Display"/>
              </a:rPr>
              <a:t>Performance profile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6263640" y="2331720"/>
            <a:ext cx="1783080" cy="548640"/>
          </a:xfrm>
          <a:prstGeom prst="line">
            <a:avLst/>
          </a:prstGeom>
          <a:ln w="17780">
            <a:solidFill>
              <a:srgbClr val="7EAC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046720" y="2331720"/>
            <a:ext cx="1645920" cy="548640"/>
          </a:xfrm>
          <a:prstGeom prst="line">
            <a:avLst/>
          </a:prstGeom>
          <a:ln w="17780">
            <a:solidFill>
              <a:srgbClr val="7EAC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5394960" y="3337560"/>
            <a:ext cx="822960" cy="822960"/>
          </a:xfrm>
          <a:prstGeom prst="line">
            <a:avLst/>
          </a:prstGeom>
          <a:ln w="17780">
            <a:solidFill>
              <a:srgbClr val="7EAC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217920" y="3337560"/>
            <a:ext cx="777240" cy="822960"/>
          </a:xfrm>
          <a:prstGeom prst="line">
            <a:avLst/>
          </a:prstGeom>
          <a:ln w="17780">
            <a:solidFill>
              <a:srgbClr val="7EAC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8823960" y="3337560"/>
            <a:ext cx="822960" cy="822960"/>
          </a:xfrm>
          <a:prstGeom prst="line">
            <a:avLst/>
          </a:prstGeom>
          <a:ln w="17780">
            <a:solidFill>
              <a:srgbClr val="7EAC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646920" y="3337560"/>
            <a:ext cx="777240" cy="822960"/>
          </a:xfrm>
          <a:prstGeom prst="line">
            <a:avLst/>
          </a:prstGeom>
          <a:ln w="17780">
            <a:solidFill>
              <a:srgbClr val="7EAC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680960" y="1828800"/>
            <a:ext cx="731520" cy="384048"/>
          </a:xfrm>
          <a:prstGeom prst="roundRect">
            <a:avLst/>
          </a:prstGeom>
          <a:solidFill>
            <a:srgbClr val="D6F5F1"/>
          </a:solidFill>
          <a:ln>
            <a:solidFill>
              <a:srgbClr val="008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0" y="1901952"/>
            <a:ext cx="731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1" i="0">
                <a:solidFill>
                  <a:srgbClr val="1C2C39"/>
                </a:solidFill>
                <a:latin typeface="Aptos"/>
              </a:rPr>
              <a:t>Root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852160" y="2880360"/>
            <a:ext cx="731520" cy="384048"/>
          </a:xfrm>
          <a:prstGeom prst="roundRect">
            <a:avLst/>
          </a:prstGeom>
          <a:solidFill>
            <a:srgbClr val="D6F5F1"/>
          </a:solidFill>
          <a:ln>
            <a:solidFill>
              <a:srgbClr val="008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52160" y="2953512"/>
            <a:ext cx="731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1" i="0">
                <a:solidFill>
                  <a:srgbClr val="1C2C39"/>
                </a:solidFill>
                <a:latin typeface="Aptos"/>
              </a:rPr>
              <a:t>Rule 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81160" y="2880360"/>
            <a:ext cx="731520" cy="384048"/>
          </a:xfrm>
          <a:prstGeom prst="roundRect">
            <a:avLst/>
          </a:prstGeom>
          <a:solidFill>
            <a:srgbClr val="D6F5F1"/>
          </a:solidFill>
          <a:ln>
            <a:solidFill>
              <a:srgbClr val="008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81160" y="2953512"/>
            <a:ext cx="731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1" i="0">
                <a:solidFill>
                  <a:srgbClr val="1C2C39"/>
                </a:solidFill>
                <a:latin typeface="Aptos"/>
              </a:rPr>
              <a:t>Rule 2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983480" y="4160520"/>
            <a:ext cx="731520" cy="384048"/>
          </a:xfrm>
          <a:prstGeom prst="roundRect">
            <a:avLst/>
          </a:prstGeom>
          <a:solidFill>
            <a:srgbClr val="E2F3F6"/>
          </a:solidFill>
          <a:ln>
            <a:solidFill>
              <a:srgbClr val="008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83480" y="4233672"/>
            <a:ext cx="731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1" i="0">
                <a:solidFill>
                  <a:srgbClr val="1C2C39"/>
                </a:solidFill>
                <a:latin typeface="Aptos"/>
              </a:rPr>
              <a:t>Leaf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65392" y="4160520"/>
            <a:ext cx="731520" cy="384048"/>
          </a:xfrm>
          <a:prstGeom prst="roundRect">
            <a:avLst/>
          </a:prstGeom>
          <a:solidFill>
            <a:srgbClr val="E2F3F6"/>
          </a:solidFill>
          <a:ln>
            <a:solidFill>
              <a:srgbClr val="008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65392" y="4233672"/>
            <a:ext cx="731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1" i="0">
                <a:solidFill>
                  <a:srgbClr val="1C2C39"/>
                </a:solidFill>
                <a:latin typeface="Aptos"/>
              </a:rPr>
              <a:t>Leaf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412480" y="4160520"/>
            <a:ext cx="731520" cy="384048"/>
          </a:xfrm>
          <a:prstGeom prst="roundRect">
            <a:avLst/>
          </a:prstGeom>
          <a:solidFill>
            <a:srgbClr val="E2F3F6"/>
          </a:solidFill>
          <a:ln>
            <a:solidFill>
              <a:srgbClr val="008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0" y="4233672"/>
            <a:ext cx="731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1" i="0">
                <a:solidFill>
                  <a:srgbClr val="1C2C39"/>
                </a:solidFill>
                <a:latin typeface="Aptos"/>
              </a:rPr>
              <a:t>Leaf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012680" y="4160520"/>
            <a:ext cx="731520" cy="384048"/>
          </a:xfrm>
          <a:prstGeom prst="roundRect">
            <a:avLst/>
          </a:prstGeom>
          <a:solidFill>
            <a:srgbClr val="E2F3F6"/>
          </a:solidFill>
          <a:ln>
            <a:solidFill>
              <a:srgbClr val="008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12680" y="4233672"/>
            <a:ext cx="731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1" i="0">
                <a:solidFill>
                  <a:srgbClr val="1C2C39"/>
                </a:solidFill>
                <a:latin typeface="Aptos"/>
              </a:rPr>
              <a:t>Leaf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15968" y="5230368"/>
            <a:ext cx="66751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435360"/>
                </a:solidFill>
                <a:latin typeface="Aptos"/>
              </a:rPr>
              <a:t>The tree achieved the highest precision (0.8542) but lower recall and ROC AUC than Logistic Regression.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528816"/>
            <a:ext cx="6400800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80" b="1" i="0">
                <a:solidFill>
                  <a:srgbClr val="81939D"/>
                </a:solidFill>
                <a:latin typeface="Aptos"/>
              </a:rPr>
              <a:t>HEART DISEASE PREDICTION • MACHINE LEARNING CAPSTONE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789920" y="6528816"/>
            <a:ext cx="749808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780" b="1" i="0">
                <a:solidFill>
                  <a:srgbClr val="81939D"/>
                </a:solidFill>
                <a:latin typeface="Aptos"/>
              </a:rP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5303520"/>
            <a:ext cx="1463040" cy="1463040"/>
          </a:xfrm>
          <a:prstGeom prst="ellipse">
            <a:avLst/>
          </a:prstGeom>
          <a:solidFill>
            <a:srgbClr val="D6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27080" y="365760"/>
            <a:ext cx="685800" cy="685800"/>
          </a:xfrm>
          <a:prstGeom prst="ellipse">
            <a:avLst/>
          </a:prstGeom>
          <a:solidFill>
            <a:srgbClr val="DB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29184"/>
            <a:ext cx="41148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008989"/>
                </a:solidFill>
                <a:latin typeface="Aptos Display"/>
              </a:rPr>
              <a:t>HOW MODELS WERE ASSESSED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566928"/>
            <a:ext cx="10378440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1C2C39"/>
                </a:solidFill>
                <a:latin typeface="Aptos Display"/>
              </a:rPr>
              <a:t>Evaluation Metrics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384048"/>
            <a:ext cx="502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300" b="1" i="0">
                <a:solidFill>
                  <a:srgbClr val="008989"/>
                </a:solidFill>
                <a:latin typeface="Aptos Display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07592"/>
            <a:ext cx="2971800" cy="16459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307592"/>
            <a:ext cx="73152" cy="1645920"/>
          </a:xfrm>
          <a:prstGeom prst="rect">
            <a:avLst/>
          </a:prstGeom>
          <a:solidFill>
            <a:srgbClr val="00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472184"/>
            <a:ext cx="262432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C2C39"/>
                </a:solidFill>
                <a:latin typeface="Aptos Display"/>
              </a:rPr>
              <a:t>Accuracy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1828800"/>
            <a:ext cx="2624328" cy="1033271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80" b="0" i="0">
                <a:solidFill>
                  <a:srgbClr val="435360"/>
                </a:solidFill>
                <a:latin typeface="Aptos"/>
              </a:rPr>
              <a:t>Overall fraction of correct predictions.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96512" y="1307592"/>
            <a:ext cx="2971800" cy="16459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096512" y="1307592"/>
            <a:ext cx="73152" cy="1645920"/>
          </a:xfrm>
          <a:prstGeom prst="rect">
            <a:avLst/>
          </a:prstGeom>
          <a:solidFill>
            <a:srgbClr val="00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1472184"/>
            <a:ext cx="262432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C2C39"/>
                </a:solidFill>
                <a:latin typeface="Aptos Display"/>
              </a:rPr>
              <a:t>Precision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1828800"/>
            <a:ext cx="2624328" cy="1033271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80" b="0" i="0">
                <a:solidFill>
                  <a:srgbClr val="435360"/>
                </a:solidFill>
                <a:latin typeface="Aptos"/>
              </a:rPr>
              <a:t>Among predicted disease cases, fraction that were correct.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07224" y="1307592"/>
            <a:ext cx="2971800" cy="16459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507224" y="1307592"/>
            <a:ext cx="73152" cy="1645920"/>
          </a:xfrm>
          <a:prstGeom prst="rect">
            <a:avLst/>
          </a:prstGeom>
          <a:solidFill>
            <a:srgbClr val="00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08392" y="1472184"/>
            <a:ext cx="262432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C2C39"/>
                </a:solidFill>
                <a:latin typeface="Aptos Display"/>
              </a:rPr>
              <a:t>Recall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08392" y="1828800"/>
            <a:ext cx="2624328" cy="1033271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80" b="0" i="0">
                <a:solidFill>
                  <a:srgbClr val="435360"/>
                </a:solidFill>
                <a:latin typeface="Aptos"/>
              </a:rPr>
              <a:t>Among actual disease cases, fraction detected by the model.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657600"/>
            <a:ext cx="2971800" cy="16459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5800" y="3657600"/>
            <a:ext cx="73152" cy="1645920"/>
          </a:xfrm>
          <a:prstGeom prst="rect">
            <a:avLst/>
          </a:prstGeom>
          <a:solidFill>
            <a:srgbClr val="21B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6968" y="3822191"/>
            <a:ext cx="262432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C2C39"/>
                </a:solidFill>
                <a:latin typeface="Aptos Display"/>
              </a:rPr>
              <a:t>F1-score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" y="4178808"/>
            <a:ext cx="2624328" cy="1033271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80" b="0" i="0">
                <a:solidFill>
                  <a:srgbClr val="435360"/>
                </a:solidFill>
                <a:latin typeface="Aptos"/>
              </a:rPr>
              <a:t>Balance of precision and recall.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096512" y="3657600"/>
            <a:ext cx="2971800" cy="16459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096512" y="3657600"/>
            <a:ext cx="73152" cy="1645920"/>
          </a:xfrm>
          <a:prstGeom prst="rect">
            <a:avLst/>
          </a:prstGeom>
          <a:solidFill>
            <a:srgbClr val="21B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97680" y="3822191"/>
            <a:ext cx="262432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C2C39"/>
                </a:solidFill>
                <a:latin typeface="Aptos Display"/>
              </a:rPr>
              <a:t>Confusion matrix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0" y="4178808"/>
            <a:ext cx="2624328" cy="1033271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80" b="0" i="0">
                <a:solidFill>
                  <a:srgbClr val="435360"/>
                </a:solidFill>
                <a:latin typeface="Aptos"/>
              </a:rPr>
              <a:t>Counts of correct and incorrect predictions by class.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07224" y="3657600"/>
            <a:ext cx="2971800" cy="16459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507224" y="3657600"/>
            <a:ext cx="73152" cy="1645920"/>
          </a:xfrm>
          <a:prstGeom prst="rect">
            <a:avLst/>
          </a:prstGeom>
          <a:solidFill>
            <a:srgbClr val="21B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08392" y="3822191"/>
            <a:ext cx="262432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C2C39"/>
                </a:solidFill>
                <a:latin typeface="Aptos Display"/>
              </a:rPr>
              <a:t>ROC AUC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08392" y="4178808"/>
            <a:ext cx="2624328" cy="1033271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80" b="0" i="0">
                <a:solidFill>
                  <a:srgbClr val="435360"/>
                </a:solidFill>
                <a:latin typeface="Aptos"/>
              </a:rPr>
              <a:t>Threshold-independent ranking ability across false-positive and true-positive rates.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528816"/>
            <a:ext cx="6400800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80" b="1" i="0">
                <a:solidFill>
                  <a:srgbClr val="81939D"/>
                </a:solidFill>
                <a:latin typeface="Aptos"/>
              </a:rPr>
              <a:t>HEART DISEASE PREDICTION • MACHINE LEARNING CAPSTONE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89920" y="6528816"/>
            <a:ext cx="749808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780" b="1" i="0">
                <a:solidFill>
                  <a:srgbClr val="81939D"/>
                </a:solidFill>
                <a:latin typeface="Aptos"/>
              </a:rP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5303520"/>
            <a:ext cx="1463040" cy="1463040"/>
          </a:xfrm>
          <a:prstGeom prst="ellipse">
            <a:avLst/>
          </a:prstGeom>
          <a:solidFill>
            <a:srgbClr val="D6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27080" y="365760"/>
            <a:ext cx="685800" cy="685800"/>
          </a:xfrm>
          <a:prstGeom prst="ellipse">
            <a:avLst/>
          </a:prstGeom>
          <a:solidFill>
            <a:srgbClr val="DB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29184"/>
            <a:ext cx="41148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008989"/>
                </a:solidFill>
                <a:latin typeface="Aptos Display"/>
              </a:rPr>
              <a:t>TEST SET • 184 ROWS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566928"/>
            <a:ext cx="10378440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1C2C39"/>
                </a:solidFill>
                <a:latin typeface="Aptos Display"/>
              </a:rPr>
              <a:t>Logistic Regression Confusion Matrix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384048"/>
            <a:ext cx="502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300" b="1" i="0">
                <a:solidFill>
                  <a:srgbClr val="008989"/>
                </a:solidFill>
                <a:latin typeface="Aptos Display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143000"/>
            <a:ext cx="50292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435360"/>
                </a:solidFill>
                <a:latin typeface="Aptos"/>
              </a:rPr>
              <a:t>Rows = actual class • Columns = predicted class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400" y="1499616"/>
            <a:ext cx="34747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 i="0">
                <a:solidFill>
                  <a:srgbClr val="008989"/>
                </a:solidFill>
                <a:latin typeface="Aptos"/>
              </a:rPr>
              <a:t>Predicted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1874519"/>
            <a:ext cx="16002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 i="0">
                <a:solidFill>
                  <a:srgbClr val="1C2C39"/>
                </a:solidFill>
                <a:latin typeface="Aptos"/>
              </a:rPr>
              <a:t>No Disease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33872" y="1874519"/>
            <a:ext cx="16002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 i="0">
                <a:solidFill>
                  <a:srgbClr val="1C2C39"/>
                </a:solidFill>
                <a:latin typeface="Aptos"/>
              </a:rPr>
              <a:t>Disease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36192" y="3246120"/>
            <a:ext cx="777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008989"/>
                </a:solidFill>
                <a:latin typeface="Aptos"/>
              </a:rPr>
              <a:t>Actual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3160" y="2606040"/>
            <a:ext cx="132588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200" b="1" i="0">
                <a:solidFill>
                  <a:srgbClr val="1C2C39"/>
                </a:solidFill>
                <a:latin typeface="Aptos"/>
              </a:rPr>
              <a:t>No Disease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23160" y="4160520"/>
            <a:ext cx="132588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200" b="1" i="0">
                <a:solidFill>
                  <a:srgbClr val="1C2C39"/>
                </a:solidFill>
                <a:latin typeface="Aptos"/>
              </a:rPr>
              <a:t>Disease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0" y="2359152"/>
            <a:ext cx="1600200" cy="1325880"/>
          </a:xfrm>
          <a:prstGeom prst="rect">
            <a:avLst/>
          </a:prstGeom>
          <a:solidFill>
            <a:srgbClr val="D3F2E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0" y="2706624"/>
            <a:ext cx="16002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800" b="1" i="0">
                <a:solidFill>
                  <a:srgbClr val="1C2C39"/>
                </a:solidFill>
                <a:latin typeface="Aptos Display"/>
              </a:rPr>
              <a:t>62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33872" y="2359152"/>
            <a:ext cx="1600200" cy="1325880"/>
          </a:xfrm>
          <a:prstGeom prst="rect">
            <a:avLst/>
          </a:prstGeom>
          <a:solidFill>
            <a:srgbClr val="EEF7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33872" y="2706624"/>
            <a:ext cx="16002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800" b="1" i="0">
                <a:solidFill>
                  <a:srgbClr val="1C2C39"/>
                </a:solidFill>
                <a:latin typeface="Aptos Display"/>
              </a:rPr>
              <a:t>20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0" y="3913632"/>
            <a:ext cx="1600200" cy="1325880"/>
          </a:xfrm>
          <a:prstGeom prst="rect">
            <a:avLst/>
          </a:prstGeom>
          <a:solidFill>
            <a:srgbClr val="F0F9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0" y="4261104"/>
            <a:ext cx="16002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800" b="1" i="0">
                <a:solidFill>
                  <a:srgbClr val="1C2C39"/>
                </a:solidFill>
                <a:latin typeface="Aptos Display"/>
              </a:rPr>
              <a:t>14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33872" y="3913632"/>
            <a:ext cx="1600200" cy="1325880"/>
          </a:xfrm>
          <a:prstGeom prst="rect">
            <a:avLst/>
          </a:prstGeom>
          <a:solidFill>
            <a:srgbClr val="88D5C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33872" y="4261104"/>
            <a:ext cx="16002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800" b="1" i="0">
                <a:solidFill>
                  <a:srgbClr val="1C2C39"/>
                </a:solidFill>
                <a:latin typeface="Aptos Display"/>
              </a:rPr>
              <a:t>88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0" y="1664208"/>
            <a:ext cx="2926080" cy="32004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0" y="1664208"/>
            <a:ext cx="73152" cy="3200400"/>
          </a:xfrm>
          <a:prstGeom prst="rect">
            <a:avLst/>
          </a:prstGeom>
          <a:solidFill>
            <a:srgbClr val="00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30768" y="1828800"/>
            <a:ext cx="257860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1C2C39"/>
                </a:solidFill>
                <a:latin typeface="Aptos Display"/>
              </a:rPr>
              <a:t>Matrix summary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30768" y="2185416"/>
            <a:ext cx="2578608" cy="2587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0" i="0">
                <a:solidFill>
                  <a:srgbClr val="435360"/>
                </a:solidFill>
                <a:latin typeface="Aptos"/>
              </a:rPr>
              <a:t>True Negatives: 62
False Positives: 20
False Negatives: 14
True Positives: 88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64992" y="5596128"/>
            <a:ext cx="50292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008989"/>
                </a:solidFill>
                <a:latin typeface="Aptos Display"/>
              </a:rPr>
              <a:t>Recall = 88 / (88 + 14) = 0.8627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528816"/>
            <a:ext cx="6400800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80" b="1" i="0">
                <a:solidFill>
                  <a:srgbClr val="81939D"/>
                </a:solidFill>
                <a:latin typeface="Aptos"/>
              </a:rPr>
              <a:t>HEART DISEASE PREDICTION • MACHINE LEARNING CAPSTONE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528816"/>
            <a:ext cx="749808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780" b="1" i="0">
                <a:solidFill>
                  <a:srgbClr val="81939D"/>
                </a:solidFill>
                <a:latin typeface="Aptos"/>
              </a:rP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5303520"/>
            <a:ext cx="1463040" cy="1463040"/>
          </a:xfrm>
          <a:prstGeom prst="ellipse">
            <a:avLst/>
          </a:prstGeom>
          <a:solidFill>
            <a:srgbClr val="D6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27080" y="365760"/>
            <a:ext cx="685800" cy="685800"/>
          </a:xfrm>
          <a:prstGeom prst="ellipse">
            <a:avLst/>
          </a:prstGeom>
          <a:solidFill>
            <a:srgbClr val="DB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29184"/>
            <a:ext cx="41148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008989"/>
                </a:solidFill>
                <a:latin typeface="Aptos Display"/>
              </a:rPr>
              <a:t>TEST SET • 184 ROWS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566928"/>
            <a:ext cx="10378440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1C2C39"/>
                </a:solidFill>
                <a:latin typeface="Aptos Display"/>
              </a:rPr>
              <a:t>Decision Tree Confusion Matrix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384048"/>
            <a:ext cx="502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300" b="1" i="0">
                <a:solidFill>
                  <a:srgbClr val="008989"/>
                </a:solidFill>
                <a:latin typeface="Aptos Display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143000"/>
            <a:ext cx="50292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435360"/>
                </a:solidFill>
                <a:latin typeface="Aptos"/>
              </a:rPr>
              <a:t>Rows = actual class • Columns = predicted class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400" y="1499616"/>
            <a:ext cx="34747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 i="0">
                <a:solidFill>
                  <a:srgbClr val="008989"/>
                </a:solidFill>
                <a:latin typeface="Aptos"/>
              </a:rPr>
              <a:t>Predicted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1874519"/>
            <a:ext cx="16002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 i="0">
                <a:solidFill>
                  <a:srgbClr val="1C2C39"/>
                </a:solidFill>
                <a:latin typeface="Aptos"/>
              </a:rPr>
              <a:t>No Disease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33872" y="1874519"/>
            <a:ext cx="16002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 i="0">
                <a:solidFill>
                  <a:srgbClr val="1C2C39"/>
                </a:solidFill>
                <a:latin typeface="Aptos"/>
              </a:rPr>
              <a:t>Disease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36192" y="3246120"/>
            <a:ext cx="777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008989"/>
                </a:solidFill>
                <a:latin typeface="Aptos"/>
              </a:rPr>
              <a:t>Actual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3160" y="2606040"/>
            <a:ext cx="132588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200" b="1" i="0">
                <a:solidFill>
                  <a:srgbClr val="1C2C39"/>
                </a:solidFill>
                <a:latin typeface="Aptos"/>
              </a:rPr>
              <a:t>No Disease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23160" y="4160520"/>
            <a:ext cx="132588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200" b="1" i="0">
                <a:solidFill>
                  <a:srgbClr val="1C2C39"/>
                </a:solidFill>
                <a:latin typeface="Aptos"/>
              </a:rPr>
              <a:t>Disease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0" y="2359152"/>
            <a:ext cx="1600200" cy="1325880"/>
          </a:xfrm>
          <a:prstGeom prst="rect">
            <a:avLst/>
          </a:prstGeom>
          <a:solidFill>
            <a:srgbClr val="D3F2E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0" y="2706624"/>
            <a:ext cx="16002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800" b="1" i="0">
                <a:solidFill>
                  <a:srgbClr val="1C2C39"/>
                </a:solidFill>
                <a:latin typeface="Aptos Display"/>
              </a:rPr>
              <a:t>68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33872" y="2359152"/>
            <a:ext cx="1600200" cy="1325880"/>
          </a:xfrm>
          <a:prstGeom prst="rect">
            <a:avLst/>
          </a:prstGeom>
          <a:solidFill>
            <a:srgbClr val="EEF7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33872" y="2706624"/>
            <a:ext cx="16002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800" b="1" i="0">
                <a:solidFill>
                  <a:srgbClr val="1C2C39"/>
                </a:solidFill>
                <a:latin typeface="Aptos Display"/>
              </a:rPr>
              <a:t>14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0" y="3913632"/>
            <a:ext cx="1600200" cy="1325880"/>
          </a:xfrm>
          <a:prstGeom prst="rect">
            <a:avLst/>
          </a:prstGeom>
          <a:solidFill>
            <a:srgbClr val="F0F9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0" y="4261104"/>
            <a:ext cx="16002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800" b="1" i="0">
                <a:solidFill>
                  <a:srgbClr val="1C2C39"/>
                </a:solidFill>
                <a:latin typeface="Aptos Display"/>
              </a:rPr>
              <a:t>20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33872" y="3913632"/>
            <a:ext cx="1600200" cy="1325880"/>
          </a:xfrm>
          <a:prstGeom prst="rect">
            <a:avLst/>
          </a:prstGeom>
          <a:solidFill>
            <a:srgbClr val="88D5C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33872" y="4261104"/>
            <a:ext cx="16002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800" b="1" i="0">
                <a:solidFill>
                  <a:srgbClr val="1C2C39"/>
                </a:solidFill>
                <a:latin typeface="Aptos Display"/>
              </a:rPr>
              <a:t>82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0" y="1664208"/>
            <a:ext cx="2926080" cy="32004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0" y="1664208"/>
            <a:ext cx="73152" cy="3200400"/>
          </a:xfrm>
          <a:prstGeom prst="rect">
            <a:avLst/>
          </a:prstGeom>
          <a:solidFill>
            <a:srgbClr val="00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30768" y="1828800"/>
            <a:ext cx="257860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1C2C39"/>
                </a:solidFill>
                <a:latin typeface="Aptos Display"/>
              </a:rPr>
              <a:t>Matrix summary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30768" y="2185416"/>
            <a:ext cx="2578608" cy="2587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0" i="0">
                <a:solidFill>
                  <a:srgbClr val="435360"/>
                </a:solidFill>
                <a:latin typeface="Aptos"/>
              </a:rPr>
              <a:t>True Negatives: 68
False Positives: 14
False Negatives: 20
True Positives: 82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64992" y="5596128"/>
            <a:ext cx="50292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008989"/>
                </a:solidFill>
                <a:latin typeface="Aptos Display"/>
              </a:rPr>
              <a:t>Precision = 82 / (82 + 14) = 0.8542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528816"/>
            <a:ext cx="6400800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80" b="1" i="0">
                <a:solidFill>
                  <a:srgbClr val="81939D"/>
                </a:solidFill>
                <a:latin typeface="Aptos"/>
              </a:rPr>
              <a:t>HEART DISEASE PREDICTION • MACHINE LEARNING CAPSTONE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528816"/>
            <a:ext cx="749808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780" b="1" i="0">
                <a:solidFill>
                  <a:srgbClr val="81939D"/>
                </a:solidFill>
                <a:latin typeface="Aptos"/>
              </a:rP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5303520"/>
            <a:ext cx="1463040" cy="1463040"/>
          </a:xfrm>
          <a:prstGeom prst="ellipse">
            <a:avLst/>
          </a:prstGeom>
          <a:solidFill>
            <a:srgbClr val="D6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27080" y="365760"/>
            <a:ext cx="685800" cy="685800"/>
          </a:xfrm>
          <a:prstGeom prst="ellipse">
            <a:avLst/>
          </a:prstGeom>
          <a:solidFill>
            <a:srgbClr val="DB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29184"/>
            <a:ext cx="41148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008989"/>
                </a:solidFill>
                <a:latin typeface="Aptos Display"/>
              </a:rPr>
              <a:t>THRESHOLD-INDEPENDENT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566928"/>
            <a:ext cx="10378440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1C2C39"/>
                </a:solidFill>
                <a:latin typeface="Aptos Display"/>
              </a:rPr>
              <a:t>ROC Curve + AUC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384048"/>
            <a:ext cx="502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300" b="1" i="0">
                <a:solidFill>
                  <a:srgbClr val="008989"/>
                </a:solidFill>
                <a:latin typeface="Aptos Display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188720"/>
            <a:ext cx="6126480" cy="50749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5_roc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670" y="1188720"/>
            <a:ext cx="5920740" cy="50749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315200" y="1481328"/>
            <a:ext cx="3611880" cy="15087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0" y="1481328"/>
            <a:ext cx="73152" cy="1508760"/>
          </a:xfrm>
          <a:prstGeom prst="rect">
            <a:avLst/>
          </a:prstGeom>
          <a:solidFill>
            <a:srgbClr val="00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16368" y="1645920"/>
            <a:ext cx="326440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1C2C39"/>
                </a:solidFill>
                <a:latin typeface="Aptos Display"/>
              </a:rPr>
              <a:t>Logistic Regression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16368" y="2002536"/>
            <a:ext cx="3264408" cy="896111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0" i="0">
                <a:solidFill>
                  <a:srgbClr val="435360"/>
                </a:solidFill>
                <a:latin typeface="Aptos"/>
              </a:rPr>
              <a:t>ROC AUC = 0.9073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3273552"/>
            <a:ext cx="3611880" cy="15087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0" y="3273552"/>
            <a:ext cx="73152" cy="1508760"/>
          </a:xfrm>
          <a:prstGeom prst="rect">
            <a:avLst/>
          </a:prstGeom>
          <a:solidFill>
            <a:srgbClr val="21B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16368" y="3438144"/>
            <a:ext cx="326440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1C2C39"/>
                </a:solidFill>
                <a:latin typeface="Aptos Display"/>
              </a:rPr>
              <a:t>Decision Tree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16368" y="3794760"/>
            <a:ext cx="3264408" cy="896111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0" i="0">
                <a:solidFill>
                  <a:srgbClr val="435360"/>
                </a:solidFill>
                <a:latin typeface="Aptos"/>
              </a:rPr>
              <a:t>ROC AUC = 0.8684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96912" y="5303520"/>
            <a:ext cx="379476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435360"/>
                </a:solidFill>
                <a:latin typeface="Aptos"/>
              </a:rPr>
              <a:t>Higher AUC indicates better ranking of disease-positive patients above disease-negative patients across thresholds.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528816"/>
            <a:ext cx="6400800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80" b="1" i="0">
                <a:solidFill>
                  <a:srgbClr val="81939D"/>
                </a:solidFill>
                <a:latin typeface="Aptos"/>
              </a:rPr>
              <a:t>HEART DISEASE PREDICTION • MACHINE LEARNING CAPSTONE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0" y="6528816"/>
            <a:ext cx="749808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780" b="1" i="0">
                <a:solidFill>
                  <a:srgbClr val="81939D"/>
                </a:solidFill>
                <a:latin typeface="Aptos"/>
              </a:rP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5303520"/>
            <a:ext cx="1463040" cy="1463040"/>
          </a:xfrm>
          <a:prstGeom prst="ellipse">
            <a:avLst/>
          </a:prstGeom>
          <a:solidFill>
            <a:srgbClr val="D6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27080" y="365760"/>
            <a:ext cx="685800" cy="685800"/>
          </a:xfrm>
          <a:prstGeom prst="ellipse">
            <a:avLst/>
          </a:prstGeom>
          <a:solidFill>
            <a:srgbClr val="DB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29184"/>
            <a:ext cx="41148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008989"/>
                </a:solidFill>
                <a:latin typeface="Aptos Display"/>
              </a:rPr>
              <a:t>TEST-SET METRICS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566928"/>
            <a:ext cx="10378440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1C2C39"/>
                </a:solidFill>
                <a:latin typeface="Aptos Display"/>
              </a:rPr>
              <a:t>Model Performance Comparison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384048"/>
            <a:ext cx="502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300" b="1" i="0">
                <a:solidFill>
                  <a:srgbClr val="008989"/>
                </a:solidFill>
                <a:latin typeface="Aptos Display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261872"/>
            <a:ext cx="5166360" cy="4526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6_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802892"/>
            <a:ext cx="5166359" cy="344424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199632" y="1417320"/>
            <a:ext cx="1636713" cy="716280"/>
          </a:xfrm>
          <a:prstGeom prst="rect">
            <a:avLst/>
          </a:prstGeom>
          <a:solidFill>
            <a:srgbClr val="E4F5F4"/>
          </a:solidFill>
          <a:ln>
            <a:solidFill>
              <a:srgbClr val="E0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36208" y="1472184"/>
            <a:ext cx="1563561" cy="6431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1C2C39"/>
                </a:solidFill>
                <a:latin typeface="Aptos"/>
              </a:rPr>
              <a:t>Model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36345" y="1417320"/>
            <a:ext cx="711614" cy="716280"/>
          </a:xfrm>
          <a:prstGeom prst="rect">
            <a:avLst/>
          </a:prstGeom>
          <a:solidFill>
            <a:srgbClr val="E4F5F4"/>
          </a:solidFill>
          <a:ln>
            <a:solidFill>
              <a:srgbClr val="E0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72921" y="1472184"/>
            <a:ext cx="638462" cy="6431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1C2C39"/>
                </a:solidFill>
                <a:latin typeface="Aptos"/>
              </a:rPr>
              <a:t>Accuracy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47960" y="1417320"/>
            <a:ext cx="747195" cy="716280"/>
          </a:xfrm>
          <a:prstGeom prst="rect">
            <a:avLst/>
          </a:prstGeom>
          <a:solidFill>
            <a:srgbClr val="E4F5F4"/>
          </a:solidFill>
          <a:ln>
            <a:solidFill>
              <a:srgbClr val="E0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84536" y="1472184"/>
            <a:ext cx="674043" cy="6431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1C2C39"/>
                </a:solidFill>
                <a:latin typeface="Aptos"/>
              </a:rPr>
              <a:t>Precision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95155" y="1417320"/>
            <a:ext cx="676033" cy="716280"/>
          </a:xfrm>
          <a:prstGeom prst="rect">
            <a:avLst/>
          </a:prstGeom>
          <a:solidFill>
            <a:srgbClr val="E4F5F4"/>
          </a:solidFill>
          <a:ln>
            <a:solidFill>
              <a:srgbClr val="E0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31731" y="1472184"/>
            <a:ext cx="602881" cy="6431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1C2C39"/>
                </a:solidFill>
                <a:latin typeface="Aptos"/>
              </a:rPr>
              <a:t>Recall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71189" y="1417320"/>
            <a:ext cx="747195" cy="716280"/>
          </a:xfrm>
          <a:prstGeom prst="rect">
            <a:avLst/>
          </a:prstGeom>
          <a:solidFill>
            <a:srgbClr val="E4F5F4"/>
          </a:solidFill>
          <a:ln>
            <a:solidFill>
              <a:srgbClr val="E0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07765" y="1472184"/>
            <a:ext cx="674043" cy="6431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1C2C39"/>
                </a:solidFill>
                <a:latin typeface="Aptos"/>
              </a:rPr>
              <a:t>F1-Score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718385" y="1417320"/>
            <a:ext cx="711614" cy="716280"/>
          </a:xfrm>
          <a:prstGeom prst="rect">
            <a:avLst/>
          </a:prstGeom>
          <a:solidFill>
            <a:srgbClr val="E4F5F4"/>
          </a:solidFill>
          <a:ln>
            <a:solidFill>
              <a:srgbClr val="E0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754961" y="1472184"/>
            <a:ext cx="638462" cy="6431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1C2C39"/>
                </a:solidFill>
                <a:latin typeface="Aptos"/>
              </a:rPr>
              <a:t>ROC AUC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99632" y="2133600"/>
            <a:ext cx="1636713" cy="716280"/>
          </a:xfrm>
          <a:prstGeom prst="rect">
            <a:avLst/>
          </a:prstGeom>
          <a:solidFill>
            <a:srgbClr val="FFFFFF"/>
          </a:solidFill>
          <a:ln>
            <a:solidFill>
              <a:srgbClr val="E0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36208" y="2188464"/>
            <a:ext cx="1563561" cy="6431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1C2C39"/>
                </a:solidFill>
                <a:latin typeface="Aptos"/>
              </a:rPr>
              <a:t>Logistic Regression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36345" y="2133600"/>
            <a:ext cx="711614" cy="716280"/>
          </a:xfrm>
          <a:prstGeom prst="rect">
            <a:avLst/>
          </a:prstGeom>
          <a:solidFill>
            <a:srgbClr val="FFFFFF"/>
          </a:solidFill>
          <a:ln>
            <a:solidFill>
              <a:srgbClr val="E0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72921" y="2188464"/>
            <a:ext cx="638462" cy="6431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50" b="0" i="0">
                <a:solidFill>
                  <a:srgbClr val="1C2C39"/>
                </a:solidFill>
                <a:latin typeface="Aptos"/>
              </a:rPr>
              <a:t>0.8152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547960" y="2133600"/>
            <a:ext cx="747195" cy="716280"/>
          </a:xfrm>
          <a:prstGeom prst="rect">
            <a:avLst/>
          </a:prstGeom>
          <a:solidFill>
            <a:srgbClr val="FFFFFF"/>
          </a:solidFill>
          <a:ln>
            <a:solidFill>
              <a:srgbClr val="E0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84536" y="2188464"/>
            <a:ext cx="674043" cy="6431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50" b="0" i="0">
                <a:solidFill>
                  <a:srgbClr val="1C2C39"/>
                </a:solidFill>
                <a:latin typeface="Aptos"/>
              </a:rPr>
              <a:t>0.8148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295155" y="2133600"/>
            <a:ext cx="676033" cy="716280"/>
          </a:xfrm>
          <a:prstGeom prst="rect">
            <a:avLst/>
          </a:prstGeom>
          <a:solidFill>
            <a:srgbClr val="FFFFFF"/>
          </a:solidFill>
          <a:ln>
            <a:solidFill>
              <a:srgbClr val="E0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31731" y="2188464"/>
            <a:ext cx="602881" cy="6431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50" b="0" i="0">
                <a:solidFill>
                  <a:srgbClr val="1C2C39"/>
                </a:solidFill>
                <a:latin typeface="Aptos"/>
              </a:rPr>
              <a:t>0.8627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971189" y="2133600"/>
            <a:ext cx="747195" cy="716280"/>
          </a:xfrm>
          <a:prstGeom prst="rect">
            <a:avLst/>
          </a:prstGeom>
          <a:solidFill>
            <a:srgbClr val="FFFFFF"/>
          </a:solidFill>
          <a:ln>
            <a:solidFill>
              <a:srgbClr val="E0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07765" y="2188464"/>
            <a:ext cx="674043" cy="6431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50" b="0" i="0">
                <a:solidFill>
                  <a:srgbClr val="1C2C39"/>
                </a:solidFill>
                <a:latin typeface="Aptos"/>
              </a:rPr>
              <a:t>0.8381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718385" y="2133600"/>
            <a:ext cx="711614" cy="716280"/>
          </a:xfrm>
          <a:prstGeom prst="rect">
            <a:avLst/>
          </a:prstGeom>
          <a:solidFill>
            <a:srgbClr val="FFFFFF"/>
          </a:solidFill>
          <a:ln>
            <a:solidFill>
              <a:srgbClr val="E0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754961" y="2188464"/>
            <a:ext cx="638462" cy="6431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50" b="0" i="0">
                <a:solidFill>
                  <a:srgbClr val="1C2C39"/>
                </a:solidFill>
                <a:latin typeface="Aptos"/>
              </a:rPr>
              <a:t>0.9073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99632" y="2849880"/>
            <a:ext cx="1636713" cy="716280"/>
          </a:xfrm>
          <a:prstGeom prst="rect">
            <a:avLst/>
          </a:prstGeom>
          <a:solidFill>
            <a:srgbClr val="FFFFFF"/>
          </a:solidFill>
          <a:ln>
            <a:solidFill>
              <a:srgbClr val="E0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36208" y="2904744"/>
            <a:ext cx="1563561" cy="6431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1C2C39"/>
                </a:solidFill>
                <a:latin typeface="Aptos"/>
              </a:rPr>
              <a:t>Decision Tree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836345" y="2849880"/>
            <a:ext cx="711614" cy="716280"/>
          </a:xfrm>
          <a:prstGeom prst="rect">
            <a:avLst/>
          </a:prstGeom>
          <a:solidFill>
            <a:srgbClr val="FFFFFF"/>
          </a:solidFill>
          <a:ln>
            <a:solidFill>
              <a:srgbClr val="E0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72921" y="2904744"/>
            <a:ext cx="638462" cy="6431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50" b="0" i="0">
                <a:solidFill>
                  <a:srgbClr val="1C2C39"/>
                </a:solidFill>
                <a:latin typeface="Aptos"/>
              </a:rPr>
              <a:t>0.8152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547960" y="2849880"/>
            <a:ext cx="747195" cy="716280"/>
          </a:xfrm>
          <a:prstGeom prst="rect">
            <a:avLst/>
          </a:prstGeom>
          <a:solidFill>
            <a:srgbClr val="FFFFFF"/>
          </a:solidFill>
          <a:ln>
            <a:solidFill>
              <a:srgbClr val="E0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84536" y="2904744"/>
            <a:ext cx="674043" cy="6431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50" b="0" i="0">
                <a:solidFill>
                  <a:srgbClr val="1C2C39"/>
                </a:solidFill>
                <a:latin typeface="Aptos"/>
              </a:rPr>
              <a:t>0.8542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295155" y="2849880"/>
            <a:ext cx="676033" cy="716280"/>
          </a:xfrm>
          <a:prstGeom prst="rect">
            <a:avLst/>
          </a:prstGeom>
          <a:solidFill>
            <a:srgbClr val="FFFFFF"/>
          </a:solidFill>
          <a:ln>
            <a:solidFill>
              <a:srgbClr val="E0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331731" y="2904744"/>
            <a:ext cx="602881" cy="6431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50" b="0" i="0">
                <a:solidFill>
                  <a:srgbClr val="1C2C39"/>
                </a:solidFill>
                <a:latin typeface="Aptos"/>
              </a:rPr>
              <a:t>0.8039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971189" y="2849880"/>
            <a:ext cx="747195" cy="716280"/>
          </a:xfrm>
          <a:prstGeom prst="rect">
            <a:avLst/>
          </a:prstGeom>
          <a:solidFill>
            <a:srgbClr val="FFFFFF"/>
          </a:solidFill>
          <a:ln>
            <a:solidFill>
              <a:srgbClr val="E0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007765" y="2904744"/>
            <a:ext cx="674043" cy="6431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50" b="0" i="0">
                <a:solidFill>
                  <a:srgbClr val="1C2C39"/>
                </a:solidFill>
                <a:latin typeface="Aptos"/>
              </a:rPr>
              <a:t>0.8283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718385" y="2849880"/>
            <a:ext cx="711614" cy="716280"/>
          </a:xfrm>
          <a:prstGeom prst="rect">
            <a:avLst/>
          </a:prstGeom>
          <a:solidFill>
            <a:srgbClr val="FFFFFF"/>
          </a:solidFill>
          <a:ln>
            <a:solidFill>
              <a:srgbClr val="E0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754961" y="2904744"/>
            <a:ext cx="638462" cy="6431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50" b="0" i="0">
                <a:solidFill>
                  <a:srgbClr val="1C2C39"/>
                </a:solidFill>
                <a:latin typeface="Aptos"/>
              </a:rPr>
              <a:t>0.8684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199632" y="3977639"/>
            <a:ext cx="5230368" cy="16459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199632" y="3977639"/>
            <a:ext cx="73152" cy="1645920"/>
          </a:xfrm>
          <a:prstGeom prst="rect">
            <a:avLst/>
          </a:prstGeom>
          <a:solidFill>
            <a:srgbClr val="00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0" y="4142231"/>
            <a:ext cx="4882896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1C2C39"/>
                </a:solidFill>
                <a:latin typeface="Aptos Display"/>
              </a:rPr>
              <a:t>Comparison conclusion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0" y="4498848"/>
            <a:ext cx="4882896" cy="1033271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0" i="0">
                <a:solidFill>
                  <a:srgbClr val="435360"/>
                </a:solidFill>
                <a:latin typeface="Aptos"/>
              </a:rPr>
              <a:t>Accuracy was tied at 0.8152. Logistic Regression led on Recall, F1-score, and ROC AUC; Decision Tree led on Precision.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" y="6528816"/>
            <a:ext cx="6400800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80" b="1" i="0">
                <a:solidFill>
                  <a:srgbClr val="81939D"/>
                </a:solidFill>
                <a:latin typeface="Aptos"/>
              </a:rPr>
              <a:t>HEART DISEASE PREDICTION • MACHINE LEARNING CAPSTONE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789920" y="6528816"/>
            <a:ext cx="749808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780" b="1" i="0">
                <a:solidFill>
                  <a:srgbClr val="81939D"/>
                </a:solidFill>
                <a:latin typeface="Aptos"/>
              </a:rP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5303520"/>
            <a:ext cx="1463040" cy="1463040"/>
          </a:xfrm>
          <a:prstGeom prst="ellipse">
            <a:avLst/>
          </a:prstGeom>
          <a:solidFill>
            <a:srgbClr val="D6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27080" y="365760"/>
            <a:ext cx="685800" cy="685800"/>
          </a:xfrm>
          <a:prstGeom prst="ellipse">
            <a:avLst/>
          </a:prstGeom>
          <a:solidFill>
            <a:srgbClr val="DB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29184"/>
            <a:ext cx="41148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008989"/>
                </a:solidFill>
                <a:latin typeface="Aptos Display"/>
              </a:rPr>
              <a:t>EVIDENCE-BASED MODEL SELECTION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566928"/>
            <a:ext cx="10378440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1C2C39"/>
                </a:solidFill>
                <a:latin typeface="Aptos Display"/>
              </a:rPr>
              <a:t>Results &amp;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384048"/>
            <a:ext cx="502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300" b="1" i="0">
                <a:solidFill>
                  <a:srgbClr val="008989"/>
                </a:solidFill>
                <a:latin typeface="Aptos Display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274320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700" b="1" i="0">
                <a:solidFill>
                  <a:srgbClr val="008989"/>
                </a:solidFill>
                <a:latin typeface="Aptos Display"/>
              </a:rPr>
              <a:t>0.8152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911095"/>
            <a:ext cx="27432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50" b="1" i="0">
                <a:solidFill>
                  <a:srgbClr val="435360"/>
                </a:solidFill>
                <a:latin typeface="Aptos"/>
              </a:rPr>
              <a:t>Accuracy for both models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1389888"/>
            <a:ext cx="228600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700" b="1" i="0">
                <a:solidFill>
                  <a:srgbClr val="008989"/>
                </a:solidFill>
                <a:latin typeface="Aptos Display"/>
              </a:rPr>
              <a:t>0.9073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1911095"/>
            <a:ext cx="22860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50" b="1" i="0">
                <a:solidFill>
                  <a:srgbClr val="435360"/>
                </a:solidFill>
                <a:latin typeface="Aptos"/>
              </a:rPr>
              <a:t>Best ROC AUC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43800" y="1389888"/>
            <a:ext cx="228600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700" b="1" i="0">
                <a:solidFill>
                  <a:srgbClr val="008989"/>
                </a:solidFill>
                <a:latin typeface="Aptos Display"/>
              </a:rPr>
              <a:t>0.8627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3800" y="1911095"/>
            <a:ext cx="22860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50" b="1" i="0">
                <a:solidFill>
                  <a:srgbClr val="435360"/>
                </a:solidFill>
                <a:latin typeface="Aptos"/>
              </a:rPr>
              <a:t>Best recall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2971800"/>
            <a:ext cx="3291840" cy="2084831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2971800"/>
            <a:ext cx="73152" cy="2084831"/>
          </a:xfrm>
          <a:prstGeom prst="rect">
            <a:avLst/>
          </a:prstGeom>
          <a:solidFill>
            <a:srgbClr val="00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8408" y="3136392"/>
            <a:ext cx="294436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1C2C39"/>
                </a:solidFill>
                <a:latin typeface="Aptos Display"/>
              </a:rPr>
              <a:t>What tied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" y="3493008"/>
            <a:ext cx="2944368" cy="1472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435360"/>
                </a:solidFill>
                <a:latin typeface="Aptos"/>
              </a:rPr>
              <a:t>Both classifiers correctly classified 0.8152 of the held-out test set.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34840" y="2971800"/>
            <a:ext cx="3291840" cy="2084831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34840" y="2971800"/>
            <a:ext cx="73152" cy="2084831"/>
          </a:xfrm>
          <a:prstGeom prst="rect">
            <a:avLst/>
          </a:prstGeom>
          <a:solidFill>
            <a:srgbClr val="21B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36007" y="3136392"/>
            <a:ext cx="294436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1C2C39"/>
                </a:solidFill>
                <a:latin typeface="Aptos Display"/>
              </a:rPr>
              <a:t>What separated them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36007" y="3493008"/>
            <a:ext cx="2944368" cy="1472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435360"/>
                </a:solidFill>
                <a:latin typeface="Aptos"/>
              </a:rPr>
              <a:t>Logistic Regression achieved stronger discrimination: ROC AUC 0.9073 vs 0.8684.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92440" y="2971800"/>
            <a:ext cx="3291840" cy="2084831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92440" y="2971800"/>
            <a:ext cx="73152" cy="2084831"/>
          </a:xfrm>
          <a:prstGeom prst="rect">
            <a:avLst/>
          </a:prstGeom>
          <a:solidFill>
            <a:srgbClr val="DC8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93608" y="3136392"/>
            <a:ext cx="294436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1C2C39"/>
                </a:solidFill>
                <a:latin typeface="Aptos Display"/>
              </a:rPr>
              <a:t>Screening implication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93608" y="3493008"/>
            <a:ext cx="2944368" cy="1472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435360"/>
                </a:solidFill>
                <a:latin typeface="Aptos"/>
              </a:rPr>
              <a:t>Logistic Regression detected more actual disease cases: recall 0.8627 vs 0.8039.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687568"/>
            <a:ext cx="48463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 i="0">
                <a:solidFill>
                  <a:srgbClr val="008989"/>
                </a:solidFill>
                <a:latin typeface="Aptos Display"/>
              </a:rPr>
              <a:t>Selected model: Logistic Regression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528816"/>
            <a:ext cx="6400800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80" b="1" i="0">
                <a:solidFill>
                  <a:srgbClr val="81939D"/>
                </a:solidFill>
                <a:latin typeface="Aptos"/>
              </a:rPr>
              <a:t>HEART DISEASE PREDICTION • MACHINE LEARNING CAPSTONE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0" y="6528816"/>
            <a:ext cx="749808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780" b="1" i="0">
                <a:solidFill>
                  <a:srgbClr val="81939D"/>
                </a:solidFill>
                <a:latin typeface="Aptos"/>
              </a:rP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5303520"/>
            <a:ext cx="1463040" cy="1463040"/>
          </a:xfrm>
          <a:prstGeom prst="ellipse">
            <a:avLst/>
          </a:prstGeom>
          <a:solidFill>
            <a:srgbClr val="D6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27080" y="365760"/>
            <a:ext cx="685800" cy="685800"/>
          </a:xfrm>
          <a:prstGeom prst="ellipse">
            <a:avLst/>
          </a:prstGeom>
          <a:solidFill>
            <a:srgbClr val="DB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29184"/>
            <a:ext cx="41148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008989"/>
                </a:solidFill>
                <a:latin typeface="Aptos Display"/>
              </a:rPr>
              <a:t>PRACTICAL INTERPRETATION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566928"/>
            <a:ext cx="10378440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1C2C39"/>
                </a:solidFill>
                <a:latin typeface="Aptos Display"/>
              </a:rPr>
              <a:t>Sample Prediction + Limitations/Future 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384048"/>
            <a:ext cx="502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300" b="1" i="0">
                <a:solidFill>
                  <a:srgbClr val="008989"/>
                </a:solidFill>
                <a:latin typeface="Aptos Display"/>
              </a:rP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280160"/>
            <a:ext cx="3977639" cy="32918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280160"/>
            <a:ext cx="73152" cy="3291840"/>
          </a:xfrm>
          <a:prstGeom prst="rect">
            <a:avLst/>
          </a:prstGeom>
          <a:solidFill>
            <a:srgbClr val="00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444751"/>
            <a:ext cx="363016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 i="0">
                <a:solidFill>
                  <a:srgbClr val="1C2C39"/>
                </a:solidFill>
                <a:latin typeface="Aptos Display"/>
              </a:rPr>
              <a:t>Held-out sample prediction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1801367"/>
            <a:ext cx="3630168" cy="2679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0" i="0">
                <a:solidFill>
                  <a:srgbClr val="435360"/>
                </a:solidFill>
                <a:latin typeface="Aptos"/>
              </a:rPr>
              <a:t>Actual label: Disease
Model prediction: No Disease
Predicted probability of disease: 0.343
This real test example illustrates an error near the decision boundary.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65192" y="1280160"/>
            <a:ext cx="2971800" cy="32918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965192" y="1280160"/>
            <a:ext cx="73152" cy="3291840"/>
          </a:xfrm>
          <a:prstGeom prst="rect">
            <a:avLst/>
          </a:prstGeom>
          <a:solidFill>
            <a:srgbClr val="DC8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66359" y="1444751"/>
            <a:ext cx="262432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 i="0">
                <a:solidFill>
                  <a:srgbClr val="1C2C39"/>
                </a:solidFill>
                <a:latin typeface="Aptos Display"/>
              </a:rPr>
              <a:t>Limitations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59" y="1801367"/>
            <a:ext cx="2624328" cy="2679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30" b="0" i="0">
                <a:solidFill>
                  <a:srgbClr val="435360"/>
                </a:solidFill>
                <a:latin typeface="Aptos"/>
              </a:rPr>
              <a:t>• ca and thal have &gt;50% raw missing values.
• Mode imputation may reduce predictive signal.
• Multi-center collection practices may contribute to missingness.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280160"/>
            <a:ext cx="2971800" cy="32918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1280160"/>
            <a:ext cx="73152" cy="3291840"/>
          </a:xfrm>
          <a:prstGeom prst="rect">
            <a:avLst/>
          </a:prstGeom>
          <a:solidFill>
            <a:srgbClr val="21B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30768" y="1444751"/>
            <a:ext cx="262432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 i="0">
                <a:solidFill>
                  <a:srgbClr val="1C2C39"/>
                </a:solidFill>
                <a:latin typeface="Aptos Display"/>
              </a:rPr>
              <a:t>Future scope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0768" y="1801367"/>
            <a:ext cx="2624328" cy="2679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30" b="0" i="0">
                <a:solidFill>
                  <a:srgbClr val="435360"/>
                </a:solidFill>
                <a:latin typeface="Aptos"/>
              </a:rPr>
              <a:t>• Multiple imputation or missingness indicators.
• External validation.
• Threshold tuning for screening needs.
• Additional model development with careful validation.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5257800"/>
            <a:ext cx="99669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C63F40"/>
                </a:solidFill>
                <a:latin typeface="Aptos"/>
              </a:rPr>
              <a:t>This system is an analytical model evaluation, not a clinical diagnostic tool.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528816"/>
            <a:ext cx="6400800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80" b="1" i="0">
                <a:solidFill>
                  <a:srgbClr val="81939D"/>
                </a:solidFill>
                <a:latin typeface="Aptos"/>
              </a:rPr>
              <a:t>HEART DISEASE PREDICTION • MACHINE LEARNING CAPSTONE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0" y="6528816"/>
            <a:ext cx="749808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780" b="1" i="0">
                <a:solidFill>
                  <a:srgbClr val="81939D"/>
                </a:solidFill>
                <a:latin typeface="Aptos"/>
              </a:rPr>
              <a:t>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24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1B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61320" y="411480"/>
            <a:ext cx="1051560" cy="1051560"/>
          </a:xfrm>
          <a:prstGeom prst="ellipse">
            <a:avLst/>
          </a:prstGeom>
          <a:solidFill>
            <a:srgbClr val="115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173968" y="960120"/>
            <a:ext cx="658368" cy="658368"/>
          </a:xfrm>
          <a:prstGeom prst="ellipse">
            <a:avLst/>
          </a:prstGeom>
          <a:solidFill>
            <a:srgbClr val="126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12680" y="5623560"/>
            <a:ext cx="1508760" cy="1508760"/>
          </a:xfrm>
          <a:prstGeom prst="ellipse">
            <a:avLst/>
          </a:prstGeom>
          <a:solidFill>
            <a:srgbClr val="0D51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03504"/>
            <a:ext cx="2286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21B7C5"/>
                </a:solidFill>
                <a:latin typeface="Aptos Display"/>
              </a:rPr>
              <a:t>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143000"/>
            <a:ext cx="7498079" cy="11430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ptos Display"/>
              </a:rPr>
              <a:t>Logistic Regression was the
strongest model for this project.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606040"/>
            <a:ext cx="7498079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900" b="0" i="0">
                <a:solidFill>
                  <a:srgbClr val="CCE5EB"/>
                </a:solidFill>
                <a:latin typeface="Aptos"/>
              </a:rPr>
              <a:t>It matched the Decision Tree’s accuracy while delivering the best ROC AUC and recall on the held-out test set.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886200"/>
            <a:ext cx="19659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700" b="1" i="0">
                <a:solidFill>
                  <a:srgbClr val="21B7C5"/>
                </a:solidFill>
                <a:latin typeface="Aptos Display"/>
              </a:rPr>
              <a:t>0.8152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407408"/>
            <a:ext cx="19659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50" b="1" i="0">
                <a:solidFill>
                  <a:srgbClr val="CAE0E6"/>
                </a:solidFill>
                <a:latin typeface="Aptos"/>
              </a:rPr>
              <a:t>Accuracy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3886200"/>
            <a:ext cx="19659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700" b="1" i="0">
                <a:solidFill>
                  <a:srgbClr val="21B7C5"/>
                </a:solidFill>
                <a:latin typeface="Aptos Display"/>
              </a:rPr>
              <a:t>0.9073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10128" y="4407408"/>
            <a:ext cx="19659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50" b="1" i="0">
                <a:solidFill>
                  <a:srgbClr val="CAE0E6"/>
                </a:solidFill>
                <a:latin typeface="Aptos"/>
              </a:rPr>
              <a:t>ROC AUC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3016" y="3886200"/>
            <a:ext cx="19659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700" b="1" i="0">
                <a:solidFill>
                  <a:srgbClr val="21B7C5"/>
                </a:solidFill>
                <a:latin typeface="Aptos Display"/>
              </a:rPr>
              <a:t>0.8627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43016" y="4407408"/>
            <a:ext cx="19659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50" b="1" i="0">
                <a:solidFill>
                  <a:srgbClr val="CAE0E6"/>
                </a:solidFill>
                <a:latin typeface="Aptos"/>
              </a:rPr>
              <a:t>Recall</a:t>
            </a:r>
          </a:p>
        </p:txBody>
      </p:sp>
      <p:sp>
        <p:nvSpPr>
          <p:cNvPr id="15" name="Oval 14"/>
          <p:cNvSpPr/>
          <p:nvPr/>
        </p:nvSpPr>
        <p:spPr>
          <a:xfrm>
            <a:off x="9418320" y="3794760"/>
            <a:ext cx="201168" cy="201168"/>
          </a:xfrm>
          <a:prstGeom prst="ellipse">
            <a:avLst/>
          </a:prstGeom>
          <a:solidFill>
            <a:srgbClr val="21B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747504" y="4087368"/>
            <a:ext cx="201168" cy="201168"/>
          </a:xfrm>
          <a:prstGeom prst="ellipse">
            <a:avLst/>
          </a:prstGeom>
          <a:solidFill>
            <a:srgbClr val="21B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076688" y="3794760"/>
            <a:ext cx="201168" cy="201168"/>
          </a:xfrm>
          <a:prstGeom prst="ellipse">
            <a:avLst/>
          </a:prstGeom>
          <a:solidFill>
            <a:srgbClr val="21B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405872" y="4087368"/>
            <a:ext cx="201168" cy="201168"/>
          </a:xfrm>
          <a:prstGeom prst="ellipse">
            <a:avLst/>
          </a:prstGeom>
          <a:solidFill>
            <a:srgbClr val="21B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735056" y="3794760"/>
            <a:ext cx="201168" cy="201168"/>
          </a:xfrm>
          <a:prstGeom prst="ellipse">
            <a:avLst/>
          </a:prstGeom>
          <a:solidFill>
            <a:srgbClr val="DC8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Heart 19"/>
          <p:cNvSpPr/>
          <p:nvPr/>
        </p:nvSpPr>
        <p:spPr>
          <a:xfrm>
            <a:off x="9464040" y="1691640"/>
            <a:ext cx="1371600" cy="1307592"/>
          </a:xfrm>
          <a:prstGeom prst="heart">
            <a:avLst/>
          </a:prstGeom>
          <a:solidFill>
            <a:srgbClr val="EF6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" y="5806440"/>
            <a:ext cx="758952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9AC5CF"/>
                </a:solidFill>
                <a:latin typeface="Aptos"/>
              </a:rPr>
              <a:t>Data-driven classification • transparent evaluation • documented limitations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199632"/>
            <a:ext cx="5029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21B7C5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